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79" r:id="rId2"/>
    <p:sldMasterId id="2147483791" r:id="rId3"/>
    <p:sldMasterId id="2147483803" r:id="rId4"/>
  </p:sldMasterIdLst>
  <p:notesMasterIdLst>
    <p:notesMasterId r:id="rId50"/>
  </p:notesMasterIdLst>
  <p:sldIdLst>
    <p:sldId id="393" r:id="rId5"/>
    <p:sldId id="394" r:id="rId6"/>
    <p:sldId id="412" r:id="rId7"/>
    <p:sldId id="358" r:id="rId8"/>
    <p:sldId id="431" r:id="rId9"/>
    <p:sldId id="446" r:id="rId10"/>
    <p:sldId id="443" r:id="rId11"/>
    <p:sldId id="447" r:id="rId12"/>
    <p:sldId id="498" r:id="rId13"/>
    <p:sldId id="413" r:id="rId14"/>
    <p:sldId id="497" r:id="rId15"/>
    <p:sldId id="496" r:id="rId16"/>
    <p:sldId id="442" r:id="rId17"/>
    <p:sldId id="373" r:id="rId18"/>
    <p:sldId id="440" r:id="rId19"/>
    <p:sldId id="432" r:id="rId20"/>
    <p:sldId id="433" r:id="rId21"/>
    <p:sldId id="434" r:id="rId22"/>
    <p:sldId id="437" r:id="rId23"/>
    <p:sldId id="449" r:id="rId24"/>
    <p:sldId id="467" r:id="rId25"/>
    <p:sldId id="473" r:id="rId26"/>
    <p:sldId id="477" r:id="rId27"/>
    <p:sldId id="478" r:id="rId28"/>
    <p:sldId id="479" r:id="rId29"/>
    <p:sldId id="480" r:id="rId30"/>
    <p:sldId id="475" r:id="rId31"/>
    <p:sldId id="476" r:id="rId32"/>
    <p:sldId id="464" r:id="rId33"/>
    <p:sldId id="417" r:id="rId34"/>
    <p:sldId id="418" r:id="rId35"/>
    <p:sldId id="481" r:id="rId36"/>
    <p:sldId id="465" r:id="rId37"/>
    <p:sldId id="483" r:id="rId38"/>
    <p:sldId id="485" r:id="rId39"/>
    <p:sldId id="487" r:id="rId40"/>
    <p:sldId id="488" r:id="rId41"/>
    <p:sldId id="489" r:id="rId42"/>
    <p:sldId id="490" r:id="rId43"/>
    <p:sldId id="482" r:id="rId44"/>
    <p:sldId id="492" r:id="rId45"/>
    <p:sldId id="493" r:id="rId46"/>
    <p:sldId id="494" r:id="rId47"/>
    <p:sldId id="495" r:id="rId48"/>
    <p:sldId id="491" r:id="rId4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79B4F"/>
    <a:srgbClr val="C5B9E5"/>
    <a:srgbClr val="C1CADD"/>
    <a:srgbClr val="BFC3DF"/>
    <a:srgbClr val="66FF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9798" autoAdjust="0"/>
  </p:normalViewPr>
  <p:slideViewPr>
    <p:cSldViewPr>
      <p:cViewPr>
        <p:scale>
          <a:sx n="75" d="100"/>
          <a:sy n="75" d="100"/>
        </p:scale>
        <p:origin x="-114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F:\&#25991;&#21592;&#37096;&#38376;&#24037;&#20316;\&#20020;&#26102;&#25991;&#20214;\&#23436;&#21892;\IP&#21160;&#21147;&#30005;&#27744;&#23459;&#20256;PPT\&#30967;&#38081;&#23433;&#20840;&#22270;&#29255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/>
            </a:pP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1C12V</a:t>
            </a:r>
            <a:r>
              <a:rPr lang="zh-CN" altLang="en-US" sz="3200" dirty="0">
                <a:latin typeface="+mn-ea"/>
                <a:ea typeface="+mn-ea"/>
                <a:cs typeface="Times New Roman" pitchFamily="18" charset="0"/>
              </a:rPr>
              <a:t>过充</a:t>
            </a:r>
            <a:r>
              <a:rPr lang="en-US" altLang="zh-CN" sz="3200" dirty="0">
                <a:latin typeface="Times New Roman" pitchFamily="18" charset="0"/>
                <a:cs typeface="Times New Roman" pitchFamily="18" charset="0"/>
              </a:rPr>
              <a:t>U-I-T</a:t>
            </a:r>
            <a:r>
              <a:rPr lang="zh-CN" altLang="en-US" sz="3200" dirty="0"/>
              <a:t>曲线</a:t>
            </a:r>
          </a:p>
        </c:rich>
      </c:tx>
      <c:layout>
        <c:manualLayout>
          <c:xMode val="edge"/>
          <c:yMode val="edge"/>
          <c:x val="0.20578725411516569"/>
          <c:y val="3.1697134623689956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9.4536896002755264E-2"/>
          <c:y val="0.15519581091967463"/>
          <c:w val="0.78661073103566959"/>
          <c:h val="0.69099191808945848"/>
        </c:manualLayout>
      </c:layout>
      <c:scatterChart>
        <c:scatterStyle val="smoothMarker"/>
        <c:varyColors val="0"/>
        <c:ser>
          <c:idx val="0"/>
          <c:order val="0"/>
          <c:tx>
            <c:v>电压</c:v>
          </c:tx>
          <c:marker>
            <c:symbol val="none"/>
          </c:marker>
          <c:xVal>
            <c:numRef>
              <c:f>[1]报告曲线!$K$2:$K$87</c:f>
              <c:numCache>
                <c:formatCode>General</c:formatCode>
                <c:ptCount val="86"/>
                <c:pt idx="0">
                  <c:v>0</c:v>
                </c:pt>
                <c:pt idx="1">
                  <c:v>2.13</c:v>
                </c:pt>
                <c:pt idx="2">
                  <c:v>4.2699999999999996</c:v>
                </c:pt>
                <c:pt idx="3">
                  <c:v>6.4</c:v>
                </c:pt>
                <c:pt idx="4">
                  <c:v>8.5300000000000011</c:v>
                </c:pt>
                <c:pt idx="5">
                  <c:v>10.67</c:v>
                </c:pt>
                <c:pt idx="6">
                  <c:v>12.8</c:v>
                </c:pt>
                <c:pt idx="7">
                  <c:v>14.93</c:v>
                </c:pt>
                <c:pt idx="8">
                  <c:v>17.07</c:v>
                </c:pt>
                <c:pt idx="9">
                  <c:v>19.2</c:v>
                </c:pt>
                <c:pt idx="10">
                  <c:v>21.330000000000005</c:v>
                </c:pt>
                <c:pt idx="11">
                  <c:v>23.47</c:v>
                </c:pt>
                <c:pt idx="12">
                  <c:v>25.6</c:v>
                </c:pt>
                <c:pt idx="13">
                  <c:v>27.73</c:v>
                </c:pt>
                <c:pt idx="14">
                  <c:v>29.87</c:v>
                </c:pt>
                <c:pt idx="15">
                  <c:v>32</c:v>
                </c:pt>
                <c:pt idx="16">
                  <c:v>34.130000000000003</c:v>
                </c:pt>
                <c:pt idx="17">
                  <c:v>36.270000000000003</c:v>
                </c:pt>
                <c:pt idx="18">
                  <c:v>38.4</c:v>
                </c:pt>
                <c:pt idx="19">
                  <c:v>40.53</c:v>
                </c:pt>
                <c:pt idx="20">
                  <c:v>42.67</c:v>
                </c:pt>
                <c:pt idx="21">
                  <c:v>44.8</c:v>
                </c:pt>
                <c:pt idx="22">
                  <c:v>46.93</c:v>
                </c:pt>
                <c:pt idx="23">
                  <c:v>49.07</c:v>
                </c:pt>
                <c:pt idx="24">
                  <c:v>51.2</c:v>
                </c:pt>
                <c:pt idx="25">
                  <c:v>53.33</c:v>
                </c:pt>
                <c:pt idx="26">
                  <c:v>55.47</c:v>
                </c:pt>
                <c:pt idx="27">
                  <c:v>57.6</c:v>
                </c:pt>
                <c:pt idx="28">
                  <c:v>59.730000000000011</c:v>
                </c:pt>
                <c:pt idx="29">
                  <c:v>61.87</c:v>
                </c:pt>
                <c:pt idx="30">
                  <c:v>64</c:v>
                </c:pt>
                <c:pt idx="31">
                  <c:v>66.13</c:v>
                </c:pt>
                <c:pt idx="32">
                  <c:v>68.27</c:v>
                </c:pt>
                <c:pt idx="33">
                  <c:v>70.400000000000006</c:v>
                </c:pt>
                <c:pt idx="34">
                  <c:v>72.53</c:v>
                </c:pt>
                <c:pt idx="35">
                  <c:v>74.669999999999987</c:v>
                </c:pt>
                <c:pt idx="36">
                  <c:v>76.8</c:v>
                </c:pt>
                <c:pt idx="37">
                  <c:v>78.930000000000007</c:v>
                </c:pt>
                <c:pt idx="38">
                  <c:v>81.069999999999993</c:v>
                </c:pt>
                <c:pt idx="39">
                  <c:v>83.2</c:v>
                </c:pt>
                <c:pt idx="40">
                  <c:v>85.33</c:v>
                </c:pt>
                <c:pt idx="41">
                  <c:v>87.47</c:v>
                </c:pt>
                <c:pt idx="42">
                  <c:v>89.6</c:v>
                </c:pt>
                <c:pt idx="43">
                  <c:v>91.73</c:v>
                </c:pt>
                <c:pt idx="44">
                  <c:v>93.86999999999999</c:v>
                </c:pt>
                <c:pt idx="45">
                  <c:v>96</c:v>
                </c:pt>
                <c:pt idx="46">
                  <c:v>98.13</c:v>
                </c:pt>
                <c:pt idx="47">
                  <c:v>100.27</c:v>
                </c:pt>
                <c:pt idx="48">
                  <c:v>102.4</c:v>
                </c:pt>
                <c:pt idx="49">
                  <c:v>104.53</c:v>
                </c:pt>
                <c:pt idx="50">
                  <c:v>106.66999999999999</c:v>
                </c:pt>
                <c:pt idx="51">
                  <c:v>108.8</c:v>
                </c:pt>
                <c:pt idx="52">
                  <c:v>110.93</c:v>
                </c:pt>
                <c:pt idx="53">
                  <c:v>113.07</c:v>
                </c:pt>
                <c:pt idx="54">
                  <c:v>115.2</c:v>
                </c:pt>
                <c:pt idx="55">
                  <c:v>117.33</c:v>
                </c:pt>
                <c:pt idx="56">
                  <c:v>119.47</c:v>
                </c:pt>
                <c:pt idx="57">
                  <c:v>121.6</c:v>
                </c:pt>
                <c:pt idx="58">
                  <c:v>123.73</c:v>
                </c:pt>
                <c:pt idx="59">
                  <c:v>125.86999999999999</c:v>
                </c:pt>
                <c:pt idx="60">
                  <c:v>128</c:v>
                </c:pt>
                <c:pt idx="61">
                  <c:v>130.13</c:v>
                </c:pt>
                <c:pt idx="62">
                  <c:v>132.26999999999998</c:v>
                </c:pt>
                <c:pt idx="63">
                  <c:v>134.4</c:v>
                </c:pt>
                <c:pt idx="64">
                  <c:v>136.53</c:v>
                </c:pt>
                <c:pt idx="65">
                  <c:v>138.66999999999999</c:v>
                </c:pt>
                <c:pt idx="66">
                  <c:v>140.80000000000001</c:v>
                </c:pt>
                <c:pt idx="67">
                  <c:v>142.93</c:v>
                </c:pt>
                <c:pt idx="68">
                  <c:v>145.07</c:v>
                </c:pt>
                <c:pt idx="69">
                  <c:v>147.19999999999999</c:v>
                </c:pt>
                <c:pt idx="70">
                  <c:v>149.33000000000001</c:v>
                </c:pt>
                <c:pt idx="71">
                  <c:v>151.47</c:v>
                </c:pt>
                <c:pt idx="72">
                  <c:v>153.6</c:v>
                </c:pt>
                <c:pt idx="73">
                  <c:v>155.72999999999999</c:v>
                </c:pt>
                <c:pt idx="74">
                  <c:v>157.87</c:v>
                </c:pt>
                <c:pt idx="75">
                  <c:v>160</c:v>
                </c:pt>
                <c:pt idx="76">
                  <c:v>162.13</c:v>
                </c:pt>
                <c:pt idx="77">
                  <c:v>164.26999999999998</c:v>
                </c:pt>
                <c:pt idx="78">
                  <c:v>166.4</c:v>
                </c:pt>
                <c:pt idx="79">
                  <c:v>168.53</c:v>
                </c:pt>
                <c:pt idx="80">
                  <c:v>170.67</c:v>
                </c:pt>
                <c:pt idx="81">
                  <c:v>172.8</c:v>
                </c:pt>
                <c:pt idx="82">
                  <c:v>174.93</c:v>
                </c:pt>
                <c:pt idx="83">
                  <c:v>177.07</c:v>
                </c:pt>
                <c:pt idx="84">
                  <c:v>179.2</c:v>
                </c:pt>
                <c:pt idx="85">
                  <c:v>180</c:v>
                </c:pt>
              </c:numCache>
            </c:numRef>
          </c:xVal>
          <c:yVal>
            <c:numRef>
              <c:f>[1]报告曲线!$L$2:$L$87</c:f>
              <c:numCache>
                <c:formatCode>General</c:formatCode>
                <c:ptCount val="86"/>
                <c:pt idx="0">
                  <c:v>2.863</c:v>
                </c:pt>
                <c:pt idx="1">
                  <c:v>3.1429999999999998</c:v>
                </c:pt>
                <c:pt idx="2">
                  <c:v>3.2530000000000001</c:v>
                </c:pt>
                <c:pt idx="3">
                  <c:v>3.27</c:v>
                </c:pt>
                <c:pt idx="4">
                  <c:v>3.282</c:v>
                </c:pt>
                <c:pt idx="5">
                  <c:v>3.2930000000000001</c:v>
                </c:pt>
                <c:pt idx="6">
                  <c:v>3.3159999999999967</c:v>
                </c:pt>
                <c:pt idx="7">
                  <c:v>3.3249999999999997</c:v>
                </c:pt>
                <c:pt idx="8">
                  <c:v>3.3389999999999977</c:v>
                </c:pt>
                <c:pt idx="9">
                  <c:v>3.3499999999999988</c:v>
                </c:pt>
                <c:pt idx="10">
                  <c:v>3.3489999999999998</c:v>
                </c:pt>
                <c:pt idx="11">
                  <c:v>3.3579999999999997</c:v>
                </c:pt>
                <c:pt idx="12">
                  <c:v>3.363</c:v>
                </c:pt>
                <c:pt idx="13">
                  <c:v>3.3569999999999967</c:v>
                </c:pt>
                <c:pt idx="14">
                  <c:v>3.36</c:v>
                </c:pt>
                <c:pt idx="15">
                  <c:v>3.3619999999999997</c:v>
                </c:pt>
                <c:pt idx="16">
                  <c:v>3.3639999999999999</c:v>
                </c:pt>
                <c:pt idx="17">
                  <c:v>3.367</c:v>
                </c:pt>
                <c:pt idx="18">
                  <c:v>3.3709999999999987</c:v>
                </c:pt>
                <c:pt idx="19">
                  <c:v>3.3769999999999967</c:v>
                </c:pt>
                <c:pt idx="20">
                  <c:v>3.3849999999999998</c:v>
                </c:pt>
                <c:pt idx="21">
                  <c:v>3.3939999999999997</c:v>
                </c:pt>
                <c:pt idx="22">
                  <c:v>3.4009999999999998</c:v>
                </c:pt>
                <c:pt idx="23">
                  <c:v>3.407</c:v>
                </c:pt>
                <c:pt idx="24">
                  <c:v>3.4139999999999997</c:v>
                </c:pt>
                <c:pt idx="25">
                  <c:v>3.4259999999999997</c:v>
                </c:pt>
                <c:pt idx="26">
                  <c:v>3.4389999999999987</c:v>
                </c:pt>
                <c:pt idx="27">
                  <c:v>3.4619999999999997</c:v>
                </c:pt>
                <c:pt idx="28">
                  <c:v>3.4969999999999977</c:v>
                </c:pt>
                <c:pt idx="29">
                  <c:v>3.5549999999999997</c:v>
                </c:pt>
                <c:pt idx="30">
                  <c:v>3.653</c:v>
                </c:pt>
                <c:pt idx="31">
                  <c:v>3.8819999999999997</c:v>
                </c:pt>
                <c:pt idx="32">
                  <c:v>4.4029999999999996</c:v>
                </c:pt>
                <c:pt idx="33">
                  <c:v>4.6219999999999946</c:v>
                </c:pt>
                <c:pt idx="34">
                  <c:v>4.8289999999999855</c:v>
                </c:pt>
                <c:pt idx="35">
                  <c:v>5.0380000000000003</c:v>
                </c:pt>
                <c:pt idx="36">
                  <c:v>5.3919999999999995</c:v>
                </c:pt>
                <c:pt idx="37">
                  <c:v>5.5350000000000001</c:v>
                </c:pt>
                <c:pt idx="38">
                  <c:v>5.42</c:v>
                </c:pt>
                <c:pt idx="39">
                  <c:v>5.4760000000000124</c:v>
                </c:pt>
                <c:pt idx="40">
                  <c:v>5.4429999999999996</c:v>
                </c:pt>
                <c:pt idx="41">
                  <c:v>5.569</c:v>
                </c:pt>
                <c:pt idx="42">
                  <c:v>8.0340000000000025</c:v>
                </c:pt>
                <c:pt idx="43">
                  <c:v>11.887</c:v>
                </c:pt>
                <c:pt idx="44">
                  <c:v>11.870000000000006</c:v>
                </c:pt>
                <c:pt idx="45">
                  <c:v>11.966000000000006</c:v>
                </c:pt>
                <c:pt idx="46">
                  <c:v>11.777000000000001</c:v>
                </c:pt>
                <c:pt idx="47">
                  <c:v>11.851000000000004</c:v>
                </c:pt>
                <c:pt idx="48">
                  <c:v>11.845000000000002</c:v>
                </c:pt>
                <c:pt idx="49">
                  <c:v>11.804</c:v>
                </c:pt>
                <c:pt idx="50">
                  <c:v>11.858000000000002</c:v>
                </c:pt>
                <c:pt idx="51">
                  <c:v>11.913</c:v>
                </c:pt>
                <c:pt idx="52">
                  <c:v>11.845000000000002</c:v>
                </c:pt>
                <c:pt idx="53">
                  <c:v>11.953000000000022</c:v>
                </c:pt>
                <c:pt idx="54">
                  <c:v>11.926</c:v>
                </c:pt>
                <c:pt idx="55">
                  <c:v>11.956000000000024</c:v>
                </c:pt>
                <c:pt idx="56">
                  <c:v>11.975000000000026</c:v>
                </c:pt>
                <c:pt idx="57">
                  <c:v>11.915000000000004</c:v>
                </c:pt>
                <c:pt idx="58">
                  <c:v>11.953000000000022</c:v>
                </c:pt>
                <c:pt idx="59">
                  <c:v>11.892000000000024</c:v>
                </c:pt>
                <c:pt idx="60">
                  <c:v>11.931000000000001</c:v>
                </c:pt>
                <c:pt idx="61">
                  <c:v>11.92</c:v>
                </c:pt>
                <c:pt idx="62">
                  <c:v>11.84</c:v>
                </c:pt>
                <c:pt idx="63">
                  <c:v>11.937000000000001</c:v>
                </c:pt>
                <c:pt idx="64">
                  <c:v>11.839</c:v>
                </c:pt>
                <c:pt idx="65">
                  <c:v>11.844000000000001</c:v>
                </c:pt>
                <c:pt idx="66">
                  <c:v>11.931000000000001</c:v>
                </c:pt>
                <c:pt idx="67">
                  <c:v>11.874000000000002</c:v>
                </c:pt>
                <c:pt idx="68">
                  <c:v>11.928000000000001</c:v>
                </c:pt>
                <c:pt idx="69">
                  <c:v>11.937000000000001</c:v>
                </c:pt>
                <c:pt idx="70">
                  <c:v>11.895000000000024</c:v>
                </c:pt>
                <c:pt idx="71">
                  <c:v>11.850000000000026</c:v>
                </c:pt>
                <c:pt idx="72">
                  <c:v>11.892000000000024</c:v>
                </c:pt>
                <c:pt idx="73">
                  <c:v>11.848000000000001</c:v>
                </c:pt>
                <c:pt idx="74">
                  <c:v>11.854000000000006</c:v>
                </c:pt>
                <c:pt idx="75">
                  <c:v>11.958</c:v>
                </c:pt>
                <c:pt idx="76">
                  <c:v>11.879000000000024</c:v>
                </c:pt>
                <c:pt idx="77">
                  <c:v>11.883000000000004</c:v>
                </c:pt>
                <c:pt idx="78">
                  <c:v>11.959000000000024</c:v>
                </c:pt>
                <c:pt idx="79">
                  <c:v>11.94</c:v>
                </c:pt>
                <c:pt idx="80">
                  <c:v>11.913</c:v>
                </c:pt>
                <c:pt idx="81">
                  <c:v>11.872000000000074</c:v>
                </c:pt>
                <c:pt idx="82">
                  <c:v>11.934000000000001</c:v>
                </c:pt>
                <c:pt idx="83">
                  <c:v>11.915000000000004</c:v>
                </c:pt>
                <c:pt idx="84">
                  <c:v>11.959000000000024</c:v>
                </c:pt>
                <c:pt idx="85">
                  <c:v>11.872000000000074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331200"/>
        <c:axId val="87333120"/>
      </c:scatterChart>
      <c:scatterChart>
        <c:scatterStyle val="smoothMarker"/>
        <c:varyColors val="0"/>
        <c:ser>
          <c:idx val="1"/>
          <c:order val="1"/>
          <c:tx>
            <c:v>电流</c:v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[1]报告曲线!$M$2:$M$30</c:f>
              <c:numCache>
                <c:formatCode>General</c:formatCode>
                <c:ptCount val="29"/>
                <c:pt idx="0">
                  <c:v>0.8</c:v>
                </c:pt>
                <c:pt idx="1">
                  <c:v>7.2</c:v>
                </c:pt>
                <c:pt idx="2">
                  <c:v>13.6</c:v>
                </c:pt>
                <c:pt idx="3">
                  <c:v>20</c:v>
                </c:pt>
                <c:pt idx="4">
                  <c:v>26.4</c:v>
                </c:pt>
                <c:pt idx="5">
                  <c:v>32.800000000000004</c:v>
                </c:pt>
                <c:pt idx="6">
                  <c:v>39.200000000000003</c:v>
                </c:pt>
                <c:pt idx="7">
                  <c:v>45.6</c:v>
                </c:pt>
                <c:pt idx="8">
                  <c:v>52</c:v>
                </c:pt>
                <c:pt idx="9">
                  <c:v>58.4</c:v>
                </c:pt>
                <c:pt idx="10">
                  <c:v>64.8</c:v>
                </c:pt>
                <c:pt idx="11">
                  <c:v>71.2</c:v>
                </c:pt>
                <c:pt idx="12">
                  <c:v>77.599999999999994</c:v>
                </c:pt>
                <c:pt idx="13">
                  <c:v>84</c:v>
                </c:pt>
                <c:pt idx="14">
                  <c:v>90.4</c:v>
                </c:pt>
                <c:pt idx="15">
                  <c:v>96.8</c:v>
                </c:pt>
                <c:pt idx="16">
                  <c:v>103.2</c:v>
                </c:pt>
                <c:pt idx="17">
                  <c:v>109.6</c:v>
                </c:pt>
                <c:pt idx="18">
                  <c:v>116</c:v>
                </c:pt>
                <c:pt idx="19">
                  <c:v>122.4</c:v>
                </c:pt>
                <c:pt idx="20">
                  <c:v>128.80000000000001</c:v>
                </c:pt>
                <c:pt idx="21">
                  <c:v>135.19999999999999</c:v>
                </c:pt>
                <c:pt idx="22">
                  <c:v>141.6</c:v>
                </c:pt>
                <c:pt idx="23">
                  <c:v>148</c:v>
                </c:pt>
                <c:pt idx="24">
                  <c:v>154.4</c:v>
                </c:pt>
                <c:pt idx="25">
                  <c:v>160.80000000000001</c:v>
                </c:pt>
                <c:pt idx="26">
                  <c:v>167.2</c:v>
                </c:pt>
                <c:pt idx="27">
                  <c:v>173.6</c:v>
                </c:pt>
                <c:pt idx="28">
                  <c:v>180</c:v>
                </c:pt>
              </c:numCache>
            </c:numRef>
          </c:xVal>
          <c:yVal>
            <c:numRef>
              <c:f>[1]报告曲线!$O$2:$O$30</c:f>
              <c:numCache>
                <c:formatCode>General</c:formatCode>
                <c:ptCount val="29"/>
                <c:pt idx="0">
                  <c:v>10</c:v>
                </c:pt>
                <c:pt idx="1">
                  <c:v>10.001000000000001</c:v>
                </c:pt>
                <c:pt idx="2">
                  <c:v>10</c:v>
                </c:pt>
                <c:pt idx="3">
                  <c:v>10</c:v>
                </c:pt>
                <c:pt idx="4">
                  <c:v>9.9990000000000006</c:v>
                </c:pt>
                <c:pt idx="5">
                  <c:v>10.001000000000001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9.9990000000000006</c:v>
                </c:pt>
                <c:pt idx="10">
                  <c:v>9.9990000000000006</c:v>
                </c:pt>
                <c:pt idx="11">
                  <c:v>10.001000000000001</c:v>
                </c:pt>
                <c:pt idx="12">
                  <c:v>10.001000000000001</c:v>
                </c:pt>
                <c:pt idx="13">
                  <c:v>10.001000000000001</c:v>
                </c:pt>
                <c:pt idx="14">
                  <c:v>10.001000000000001</c:v>
                </c:pt>
                <c:pt idx="15">
                  <c:v>1.0960000000000001</c:v>
                </c:pt>
                <c:pt idx="16">
                  <c:v>0.85200000000000065</c:v>
                </c:pt>
                <c:pt idx="17">
                  <c:v>0.79300000000000004</c:v>
                </c:pt>
                <c:pt idx="18">
                  <c:v>0.81299999999999994</c:v>
                </c:pt>
                <c:pt idx="19">
                  <c:v>0.85800000000000065</c:v>
                </c:pt>
                <c:pt idx="20">
                  <c:v>0.88700000000000168</c:v>
                </c:pt>
                <c:pt idx="21">
                  <c:v>0.91700000000000004</c:v>
                </c:pt>
                <c:pt idx="22">
                  <c:v>0.92500000000000004</c:v>
                </c:pt>
                <c:pt idx="23">
                  <c:v>0.93200000000000005</c:v>
                </c:pt>
                <c:pt idx="24">
                  <c:v>0.94199999999999995</c:v>
                </c:pt>
                <c:pt idx="25">
                  <c:v>0.95300000000000062</c:v>
                </c:pt>
                <c:pt idx="26">
                  <c:v>0.84300000000000064</c:v>
                </c:pt>
                <c:pt idx="27">
                  <c:v>0.85600000000000065</c:v>
                </c:pt>
                <c:pt idx="28">
                  <c:v>0.85800000000000065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337216"/>
        <c:axId val="87335296"/>
      </c:scatterChart>
      <c:valAx>
        <c:axId val="87331200"/>
        <c:scaling>
          <c:orientation val="minMax"/>
          <c:max val="2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zh-CN" altLang="en-US"/>
                  <a:t>时间</a:t>
                </a:r>
                <a:r>
                  <a:rPr lang="en-US" altLang="zh-CN"/>
                  <a:t>/min</a:t>
                </a:r>
                <a:endParaRPr lang="zh-CN" altLang="en-US"/>
              </a:p>
            </c:rich>
          </c:tx>
          <c:layout>
            <c:manualLayout>
              <c:xMode val="edge"/>
              <c:yMode val="edge"/>
              <c:x val="0.44382404272789838"/>
              <c:y val="0.92390894207530982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crossAx val="87333120"/>
        <c:crosses val="autoZero"/>
        <c:crossBetween val="midCat"/>
        <c:majorUnit val="20"/>
      </c:valAx>
      <c:valAx>
        <c:axId val="8733312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zh-CN" altLang="en-US"/>
                  <a:t>电压</a:t>
                </a:r>
                <a:r>
                  <a:rPr lang="en-US" altLang="zh-CN"/>
                  <a:t>/V</a:t>
                </a:r>
                <a:endParaRPr lang="zh-CN" altLang="en-US"/>
              </a:p>
            </c:rich>
          </c:tx>
          <c:layout>
            <c:manualLayout>
              <c:xMode val="edge"/>
              <c:yMode val="edge"/>
              <c:x val="6.5573770491803669E-3"/>
              <c:y val="0.44080715158129979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crossAx val="87331200"/>
        <c:crosses val="autoZero"/>
        <c:crossBetween val="midCat"/>
      </c:valAx>
      <c:valAx>
        <c:axId val="87335296"/>
        <c:scaling>
          <c:orientation val="minMax"/>
          <c:max val="12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zh-CN" altLang="en-US"/>
                  <a:t>电流</a:t>
                </a:r>
                <a:r>
                  <a:rPr lang="en-US" altLang="zh-CN"/>
                  <a:t>/A</a:t>
                </a:r>
                <a:endParaRPr lang="zh-CN" altLang="en-US"/>
              </a:p>
            </c:rich>
          </c:tx>
          <c:layout>
            <c:manualLayout>
              <c:xMode val="edge"/>
              <c:yMode val="edge"/>
              <c:x val="0.94819969483585864"/>
              <c:y val="0.4568467555416958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87337216"/>
        <c:crosses val="max"/>
        <c:crossBetween val="midCat"/>
        <c:majorUnit val="2"/>
      </c:valAx>
      <c:valAx>
        <c:axId val="873372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8733529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2476537154167264"/>
          <c:y val="0.33575478807723685"/>
          <c:w val="0.10928961748633879"/>
          <c:h val="0.11935916426288301"/>
        </c:manualLayout>
      </c:layout>
      <c:overlay val="0"/>
    </c:legend>
    <c:plotVisOnly val="1"/>
    <c:dispBlanksAs val="gap"/>
    <c:showDLblsOverMax val="0"/>
  </c:chart>
  <c:spPr>
    <a:ln w="25400">
      <a:solidFill>
        <a:schemeClr val="bg1">
          <a:lumMod val="85000"/>
        </a:schemeClr>
      </a:solidFill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D0FB383-7889-43D9-BA7B-FABB3019987F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B90883F-8A9E-43DE-A3B5-8D89C0ADD0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4304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C7AEC2-A592-41A7-BFD7-1610BEEDBFAF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0179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341FB89-1DAC-4B7F-9A5A-3F6B178EBACD}" type="slidenum">
              <a:rPr lang="zh-CN" altLang="en-US" sz="1200">
                <a:latin typeface="+mn-lt"/>
                <a:ea typeface="+mn-ea"/>
              </a:rPr>
              <a:pPr algn="r">
                <a:defRPr/>
              </a:pPr>
              <a:t>8</a:t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87067" tIns="43533" rIns="87067" bIns="4353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83971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067" tIns="43533" rIns="87067" bIns="43533" anchor="b"/>
          <a:lstStyle/>
          <a:p>
            <a:pPr algn="r" defTabSz="844550"/>
            <a:fld id="{CC9BF808-B9ED-4A14-9114-407586D9BC0E}" type="slidenum">
              <a:rPr kumimoji="1" lang="zh-CN" altLang="en-US" sz="1100">
                <a:latin typeface="Tahoma" pitchFamily="34" charset="0"/>
              </a:rPr>
              <a:pPr algn="r" defTabSz="844550"/>
              <a:t>34</a:t>
            </a:fld>
            <a:endParaRPr kumimoji="1" lang="en-US" altLang="zh-CN" sz="11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87067" tIns="43533" rIns="87067" bIns="4353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86019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067" tIns="43533" rIns="87067" bIns="43533" anchor="b"/>
          <a:lstStyle/>
          <a:p>
            <a:pPr algn="r" defTabSz="844550"/>
            <a:fld id="{BBDDB16A-475D-48BA-909D-418082B57A17}" type="slidenum">
              <a:rPr kumimoji="1" lang="zh-CN" altLang="en-US" sz="1100">
                <a:latin typeface="Tahoma" pitchFamily="34" charset="0"/>
              </a:rPr>
              <a:pPr algn="r" defTabSz="844550"/>
              <a:t>35</a:t>
            </a:fld>
            <a:endParaRPr kumimoji="1" lang="en-US" altLang="zh-CN" sz="11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87067" tIns="43533" rIns="87067" bIns="4353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88067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067" tIns="43533" rIns="87067" bIns="43533" anchor="b"/>
          <a:lstStyle/>
          <a:p>
            <a:pPr algn="r" defTabSz="844550"/>
            <a:fld id="{EF6B67E5-E938-449B-9E7C-40B47C134650}" type="slidenum">
              <a:rPr kumimoji="1" lang="zh-CN" altLang="en-US" sz="1100">
                <a:latin typeface="Tahoma" pitchFamily="34" charset="0"/>
              </a:rPr>
              <a:pPr algn="r" defTabSz="844550"/>
              <a:t>36</a:t>
            </a:fld>
            <a:endParaRPr kumimoji="1" lang="en-US" altLang="zh-CN" sz="11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87067" tIns="43533" rIns="87067" bIns="4353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90115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067" tIns="43533" rIns="87067" bIns="43533" anchor="b"/>
          <a:lstStyle/>
          <a:p>
            <a:pPr algn="r" defTabSz="844550"/>
            <a:fld id="{8AC8E82C-FABF-44EC-912B-3BD7D8868485}" type="slidenum">
              <a:rPr kumimoji="1" lang="zh-CN" altLang="en-US" sz="1100">
                <a:latin typeface="Tahoma" pitchFamily="34" charset="0"/>
              </a:rPr>
              <a:pPr algn="r" defTabSz="844550"/>
              <a:t>37</a:t>
            </a:fld>
            <a:endParaRPr kumimoji="1" lang="en-US" altLang="zh-CN" sz="11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87067" tIns="43533" rIns="87067" bIns="4353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92163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067" tIns="43533" rIns="87067" bIns="43533" anchor="b"/>
          <a:lstStyle/>
          <a:p>
            <a:pPr algn="r" defTabSz="844550"/>
            <a:fld id="{38B0B9C4-4C76-46DD-9D96-696F8E397C5C}" type="slidenum">
              <a:rPr kumimoji="1" lang="zh-CN" altLang="en-US" sz="1100">
                <a:latin typeface="Tahoma" pitchFamily="34" charset="0"/>
              </a:rPr>
              <a:pPr algn="r" defTabSz="844550"/>
              <a:t>38</a:t>
            </a:fld>
            <a:endParaRPr kumimoji="1" lang="en-US" altLang="zh-CN" sz="11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87067" tIns="43533" rIns="87067" bIns="4353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94211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067" tIns="43533" rIns="87067" bIns="43533" anchor="b"/>
          <a:lstStyle/>
          <a:p>
            <a:pPr algn="r" defTabSz="844550"/>
            <a:fld id="{2969CB80-6761-4108-88F1-EBC9427275CF}" type="slidenum">
              <a:rPr kumimoji="1" lang="zh-CN" altLang="en-US" sz="1100">
                <a:latin typeface="Tahoma" pitchFamily="34" charset="0"/>
              </a:rPr>
              <a:pPr algn="r" defTabSz="844550"/>
              <a:t>39</a:t>
            </a:fld>
            <a:endParaRPr kumimoji="1" lang="en-US" altLang="zh-CN" sz="1100">
              <a:latin typeface="Tahoma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7651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E1F9ADD-3D1B-48CA-921D-E8FC3BFB0E1C}" type="slidenum">
              <a:rPr lang="zh-CN" altLang="en-US" sz="1200">
                <a:latin typeface="+mn-lt"/>
                <a:ea typeface="+mn-ea"/>
              </a:rPr>
              <a:pPr algn="r">
                <a:defRPr/>
              </a:pPr>
              <a:t>42</a:t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6BA436-9F9E-400A-93A4-C44B0BDA0912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5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A0DDD-25AA-4976-9700-75A4C13D66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8DEF8-BB6B-4E4F-B09D-012859981E16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E835C-B5B5-4BC0-9206-2DFB37870B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95B32-95DA-4BC8-A6B3-EC34BD439780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1C0C3-CED5-457B-84D1-3191DFE207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3ADF7-F79D-474C-961D-A1EA3D57E529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4A6EC-6A24-4F26-A69A-CA1EF30065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13A50-3B58-41EA-99B3-311B47D3E22D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D5A36-B70A-4503-A275-3F37952592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8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直角三角形 11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任意多边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1AD9F-E904-4D44-BDC2-8B4CA69A3257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724A8-D4B7-45EE-9003-3C90292B5F7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80142-1C79-474D-876B-5FD066591EB5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108D0-8957-4522-B668-C987EB696F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E77C9-59F2-4430-86D6-21FF43F43C7F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94F68-07EE-4A16-8D3B-09C46172B1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9EA1B27-4A58-4B63-A512-9ECC866F9B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3D4B2C2-C1C0-4613-82A2-8BD0F3055A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B5148FA-7FFD-4063-BEFE-2564B775DE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D7CD236C-5FD7-4DBA-AB76-EB26FDFD3D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2333272-071B-4FD4-90F2-EB0862D2CD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EFB3937-C58C-425F-B7ED-E7B8CFC09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53FF7FB-187A-4E12-A303-459BCCCF60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F8B8980-2060-45D8-811B-5ECF7AFF32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6D7229F-46F1-4F74-A961-112C257EF5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60395B2-EBA0-4BF6-9AB2-1DC1B2D53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55A0884-2B21-4FA3-8475-94FCDBA9D8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5B65746-FED9-40E1-9432-99C449BAF3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B03D575-9C0E-4010-81B6-E1FBD646A1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B7DD8E3-BEB5-475F-B909-75161D135F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5A7C4D0-605A-4F89-BA67-FA3FA94498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014E886-7625-45F0-8712-63CC90A33A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CD361A9-B52A-4734-A3E8-CD9A50F3CF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E397EC8-74A4-4493-B83F-43DB946D83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E46E645-D576-4086-A105-877DE3DD83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EACE775-4194-48F0-AECE-AC89F92CF6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0760BE0-A4B6-4E0D-A1E7-1EC37250B2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09338BF-7C65-4241-AA65-FC0AF8BEA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F4C688F1-AE57-420C-9790-08BD1F3383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2E94270-2EEC-4A37-A5FC-B393B2952B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B307AAC-4952-42B8-9D7B-A94C41E3A3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117EFE8-B6D3-4664-9467-818B619B92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B7F8956-E2D2-4F55-8D5E-F3B450DCC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F0716BA-04D0-41DA-9EBD-FBC0B5E325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4D8464F-D7A1-4820-859D-C5452321DC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EF3F96E-B5CA-4749-8D7C-B3ACE5F07B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1B41136C-C1E0-4EFB-9E3B-61EF5EAC1B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8D9609A-9C06-43F3-B23E-EFCB7F1B7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F19AF02-77AC-44F8-B22A-83774B6AC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028" name="标题占位符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9" name="文本占位符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F73CDB4-195C-4903-83F2-519ECFF1E315}" type="datetimeFigureOut">
              <a:rPr lang="zh-CN" altLang="en-US"/>
              <a:pPr>
                <a:defRPr/>
              </a:pPr>
              <a:t>2013/8/8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5A4550B-306E-498A-8E81-BCA73ADD930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033" name="组合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隶书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/>
          <a:cs typeface="隶书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/>
          <a:cs typeface="隶书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/>
          <a:cs typeface="隶书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/>
          <a:cs typeface="隶书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/>
          <a:cs typeface="隶书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/>
          <a:cs typeface="隶书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/>
          <a:cs typeface="隶书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  <a:ea typeface="隶书"/>
          <a:cs typeface="隶书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742EE3F7-0D32-4563-AAFF-44520570F7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25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25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D3D0C65-2788-4FD7-A2A6-F8B7C7855D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482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48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A9A94C58-7B4E-4736-B1EB-E0AFB93417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openxmlformats.org/officeDocument/2006/relationships/image" Target="../media/image17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2.png"/><Relationship Id="rId7" Type="http://schemas.openxmlformats.org/officeDocument/2006/relationships/image" Target="../media/image6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eg"/><Relationship Id="rId11" Type="http://schemas.openxmlformats.org/officeDocument/2006/relationships/image" Target="../media/image67.jpeg"/><Relationship Id="rId5" Type="http://schemas.openxmlformats.org/officeDocument/2006/relationships/image" Target="../media/image61.jpeg"/><Relationship Id="rId10" Type="http://schemas.openxmlformats.org/officeDocument/2006/relationships/image" Target="../media/image66.jpeg"/><Relationship Id="rId4" Type="http://schemas.openxmlformats.org/officeDocument/2006/relationships/image" Target="../media/image60.jpeg"/><Relationship Id="rId9" Type="http://schemas.openxmlformats.org/officeDocument/2006/relationships/image" Target="../media/image6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jpeg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0" name="Text Box 7"/>
          <p:cNvSpPr txBox="1">
            <a:spLocks noChangeArrowheads="1"/>
          </p:cNvSpPr>
          <p:nvPr/>
        </p:nvSpPr>
        <p:spPr bwMode="auto">
          <a:xfrm>
            <a:off x="1381125" y="2209800"/>
            <a:ext cx="7294563" cy="192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4800" b="1">
                <a:solidFill>
                  <a:srgbClr val="0000FF"/>
                </a:solidFill>
              </a:rPr>
              <a:t>Company &amp; Product</a:t>
            </a:r>
          </a:p>
          <a:p>
            <a:pPr algn="ctr">
              <a:spcBef>
                <a:spcPct val="50000"/>
              </a:spcBef>
            </a:pPr>
            <a:r>
              <a:rPr kumimoji="1" lang="en-US" altLang="zh-CN" sz="4800" b="1">
                <a:solidFill>
                  <a:srgbClr val="0000FF"/>
                </a:solidFill>
              </a:rPr>
              <a:t>Introduction</a:t>
            </a:r>
          </a:p>
        </p:txBody>
      </p:sp>
      <p:sp>
        <p:nvSpPr>
          <p:cNvPr id="48131" name="Text Box 7"/>
          <p:cNvSpPr txBox="1">
            <a:spLocks noChangeArrowheads="1"/>
          </p:cNvSpPr>
          <p:nvPr/>
        </p:nvSpPr>
        <p:spPr bwMode="auto">
          <a:xfrm>
            <a:off x="323850" y="4868863"/>
            <a:ext cx="83534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3200" b="1">
                <a:solidFill>
                  <a:srgbClr val="FF0066"/>
                </a:solidFill>
                <a:ea typeface="楷体"/>
                <a:cs typeface="楷体"/>
              </a:rPr>
              <a:t>Intellect Pioneering Battery Tech Co., Ltd.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标题 1"/>
          <p:cNvSpPr>
            <a:spLocks noGrp="1"/>
          </p:cNvSpPr>
          <p:nvPr>
            <p:ph type="title" idx="4294967295"/>
          </p:nvPr>
        </p:nvSpPr>
        <p:spPr>
          <a:xfrm>
            <a:off x="3382963" y="617538"/>
            <a:ext cx="2628900" cy="1143000"/>
          </a:xfrm>
        </p:spPr>
        <p:txBody>
          <a:bodyPr lIns="0" rIns="0" bIns="0"/>
          <a:lstStyle/>
          <a:p>
            <a:pPr algn="ctr" eaLnBrk="1" hangingPunct="1"/>
            <a:r>
              <a:rPr lang="en-US" altLang="zh-CN" sz="40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Agenda</a:t>
            </a:r>
          </a:p>
        </p:txBody>
      </p:sp>
      <p:sp>
        <p:nvSpPr>
          <p:cNvPr id="49154" name="内容占位符 2"/>
          <p:cNvSpPr>
            <a:spLocks noGrp="1"/>
          </p:cNvSpPr>
          <p:nvPr>
            <p:ph idx="4294967295"/>
          </p:nvPr>
        </p:nvSpPr>
        <p:spPr>
          <a:xfrm>
            <a:off x="179388" y="1989138"/>
            <a:ext cx="8713787" cy="4319587"/>
          </a:xfrm>
        </p:spPr>
        <p:txBody>
          <a:bodyPr/>
          <a:lstStyle/>
          <a:p>
            <a:pPr marL="273050" indent="-273050"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folHlink"/>
                </a:solidFill>
                <a:latin typeface="Arial" charset="0"/>
              </a:rPr>
              <a:t>I</a:t>
            </a:r>
            <a:r>
              <a:rPr lang="zh-CN" altLang="en-US" sz="2800" b="1" smtClean="0">
                <a:solidFill>
                  <a:schemeClr val="folHlink"/>
                </a:solidFill>
                <a:latin typeface="Arial" charset="0"/>
                <a:ea typeface="楷体"/>
                <a:cs typeface="隶书"/>
              </a:rPr>
              <a:t>、</a:t>
            </a:r>
            <a:r>
              <a:rPr lang="en-US" altLang="zh-CN" sz="2800" b="1" smtClean="0">
                <a:solidFill>
                  <a:schemeClr val="folHlink"/>
                </a:solidFill>
                <a:latin typeface="Arial" charset="0"/>
                <a:ea typeface="楷体"/>
                <a:cs typeface="隶书"/>
              </a:rPr>
              <a:t>Company Introduction</a:t>
            </a:r>
          </a:p>
          <a:p>
            <a:pPr marL="273050" indent="-273050"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folHlink"/>
                </a:solidFill>
                <a:latin typeface="Arial" charset="0"/>
              </a:rPr>
              <a:t>II</a:t>
            </a:r>
            <a:r>
              <a:rPr lang="zh-CN" altLang="en-US" sz="2800" b="1" smtClean="0">
                <a:solidFill>
                  <a:schemeClr val="folHlink"/>
                </a:solidFill>
                <a:latin typeface="Arial" charset="0"/>
                <a:ea typeface="楷体"/>
                <a:cs typeface="楷体"/>
              </a:rPr>
              <a:t>、</a:t>
            </a:r>
            <a:r>
              <a:rPr lang="en-US" altLang="zh-CN" sz="2800" b="1" smtClean="0">
                <a:solidFill>
                  <a:schemeClr val="folHlink"/>
                </a:solidFill>
                <a:latin typeface="Arial" charset="0"/>
                <a:ea typeface="楷体"/>
                <a:cs typeface="楷体"/>
              </a:rPr>
              <a:t>Lithium-ion polymer cell Character &amp;        Performance</a:t>
            </a:r>
          </a:p>
          <a:p>
            <a:pPr marL="273050" indent="-273050" eaLnBrk="1" hangingPunct="1"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folHlink"/>
                </a:solidFill>
                <a:latin typeface="Arial" charset="0"/>
                <a:ea typeface="楷体"/>
                <a:cs typeface="楷体"/>
              </a:rPr>
              <a:t>III</a:t>
            </a:r>
            <a:r>
              <a:rPr lang="zh-CN" altLang="en-US" sz="2800" b="1" smtClean="0">
                <a:solidFill>
                  <a:schemeClr val="folHlink"/>
                </a:solidFill>
                <a:latin typeface="Arial" charset="0"/>
                <a:ea typeface="楷体"/>
                <a:cs typeface="楷体"/>
              </a:rPr>
              <a:t>、</a:t>
            </a:r>
            <a:r>
              <a:rPr lang="en-US" altLang="zh-CN" sz="2800" b="1" smtClean="0">
                <a:solidFill>
                  <a:schemeClr val="folHlink"/>
                </a:solidFill>
                <a:latin typeface="Arial" charset="0"/>
                <a:ea typeface="楷体"/>
                <a:cs typeface="楷体"/>
              </a:rPr>
              <a:t>IP Product Introduction</a:t>
            </a:r>
            <a:endParaRPr lang="zh-CN" altLang="en-US" sz="2800" b="1" smtClean="0">
              <a:solidFill>
                <a:schemeClr val="folHlink"/>
              </a:solidFill>
              <a:latin typeface="Arial" charset="0"/>
              <a:ea typeface="楷体"/>
              <a:cs typeface="楷体"/>
            </a:endParaRPr>
          </a:p>
          <a:p>
            <a:pPr marL="273050" indent="-273050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FF0066"/>
                </a:solidFill>
                <a:latin typeface="Arial" charset="0"/>
                <a:ea typeface="楷体"/>
                <a:cs typeface="楷体"/>
              </a:rPr>
              <a:t>     </a:t>
            </a:r>
            <a:r>
              <a:rPr lang="en-US" altLang="zh-CN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1</a:t>
            </a:r>
            <a:r>
              <a:rPr lang="zh-CN" altLang="en-US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）</a:t>
            </a:r>
            <a:r>
              <a:rPr lang="en-US" altLang="zh-CN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RC Li-ion polymer Battery</a:t>
            </a:r>
            <a:endParaRPr lang="zh-CN" altLang="en-US" sz="2400" smtClean="0">
              <a:solidFill>
                <a:srgbClr val="0000FF"/>
              </a:solidFill>
              <a:latin typeface="Arial" charset="0"/>
              <a:ea typeface="楷体"/>
              <a:cs typeface="楷体"/>
            </a:endParaRPr>
          </a:p>
          <a:p>
            <a:pPr marL="273050" indent="-273050" eaLnBrk="1" hangingPunct="1">
              <a:buFont typeface="Wingdings" pitchFamily="2" charset="2"/>
              <a:buNone/>
            </a:pPr>
            <a:r>
              <a:rPr lang="zh-CN" altLang="en-US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      </a:t>
            </a:r>
            <a:r>
              <a:rPr lang="en-US" altLang="zh-CN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2</a:t>
            </a:r>
            <a:r>
              <a:rPr lang="zh-CN" altLang="en-US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）</a:t>
            </a:r>
            <a:r>
              <a:rPr lang="en-US" altLang="zh-CN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LiFePO4 Power battery</a:t>
            </a:r>
            <a:endParaRPr lang="zh-CN" altLang="en-US" sz="2400" smtClean="0">
              <a:solidFill>
                <a:srgbClr val="0000FF"/>
              </a:solidFill>
              <a:latin typeface="Arial" charset="0"/>
              <a:ea typeface="楷体"/>
              <a:cs typeface="楷体"/>
            </a:endParaRPr>
          </a:p>
          <a:p>
            <a:pPr marL="273050" indent="-273050" eaLnBrk="1" hangingPunct="1">
              <a:buFont typeface="Wingdings" pitchFamily="2" charset="2"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      3</a:t>
            </a:r>
            <a:r>
              <a:rPr lang="zh-CN" altLang="en-US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）</a:t>
            </a:r>
            <a:r>
              <a:rPr kumimoji="0" lang="en-US" altLang="zh-CN" sz="2400" smtClean="0">
                <a:solidFill>
                  <a:srgbClr val="0000FF"/>
                </a:solidFill>
                <a:latin typeface="Arial" charset="0"/>
                <a:ea typeface="楷体_GB2312" pitchFamily="49" charset="-122"/>
              </a:rPr>
              <a:t>Li-NMC Power battery</a:t>
            </a:r>
          </a:p>
          <a:p>
            <a:pPr marL="273050" indent="-273050" eaLnBrk="1" hangingPunct="1">
              <a:buFont typeface="Wingdings" pitchFamily="2" charset="2"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      4</a:t>
            </a:r>
            <a:r>
              <a:rPr lang="zh-CN" altLang="en-US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）</a:t>
            </a:r>
            <a:r>
              <a:rPr lang="en-US" altLang="zh-CN" sz="2400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High Capacity Digital Li-ion polymer Cell</a:t>
            </a:r>
          </a:p>
          <a:p>
            <a:pPr marL="273050" indent="-273050" eaLnBrk="1" hangingPunct="1">
              <a:buFont typeface="Wingdings" pitchFamily="2" charset="2"/>
              <a:buNone/>
            </a:pPr>
            <a:r>
              <a:rPr lang="en-US" altLang="zh-CN" b="1" smtClean="0">
                <a:solidFill>
                  <a:schemeClr val="folHlink"/>
                </a:solidFill>
                <a:latin typeface="Arial" charset="0"/>
              </a:rPr>
              <a:t>IV</a:t>
            </a:r>
            <a:r>
              <a:rPr lang="zh-CN" altLang="en-US" sz="2800" b="1" smtClean="0">
                <a:solidFill>
                  <a:schemeClr val="folHlink"/>
                </a:solidFill>
                <a:latin typeface="Arial" charset="0"/>
                <a:ea typeface="楷体"/>
                <a:cs typeface="楷体"/>
              </a:rPr>
              <a:t>、</a:t>
            </a:r>
            <a:r>
              <a:rPr lang="en-US" altLang="zh-CN" sz="2800" b="1" smtClean="0">
                <a:solidFill>
                  <a:schemeClr val="folHlink"/>
                </a:solidFill>
                <a:latin typeface="Arial" charset="0"/>
                <a:ea typeface="楷体"/>
                <a:cs typeface="楷体"/>
              </a:rPr>
              <a:t>Safety Performance</a:t>
            </a:r>
          </a:p>
          <a:p>
            <a:pPr marL="273050" indent="-273050" eaLnBrk="1" hangingPunct="1">
              <a:buFont typeface="Wingdings" pitchFamily="2" charset="2"/>
              <a:buNone/>
            </a:pPr>
            <a:endParaRPr lang="en-US" altLang="zh-CN" sz="2800" b="1" smtClean="0">
              <a:solidFill>
                <a:schemeClr val="folHlink"/>
              </a:solidFill>
              <a:latin typeface="Arial" charset="0"/>
              <a:ea typeface="楷体"/>
              <a:cs typeface="楷体"/>
            </a:endParaRPr>
          </a:p>
          <a:p>
            <a:pPr marL="273050" indent="-273050" eaLnBrk="1" hangingPunct="1">
              <a:buFont typeface="Wingdings" pitchFamily="2" charset="2"/>
              <a:buNone/>
            </a:pPr>
            <a:endParaRPr lang="zh-CN" altLang="en-US" sz="2800" b="1" smtClean="0">
              <a:latin typeface="楷体"/>
              <a:ea typeface="楷体"/>
              <a:cs typeface="楷体"/>
            </a:endParaRPr>
          </a:p>
        </p:txBody>
      </p:sp>
      <p:pic>
        <p:nvPicPr>
          <p:cNvPr id="49155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1"/>
          <p:cNvSpPr>
            <a:spLocks noGrp="1"/>
          </p:cNvSpPr>
          <p:nvPr>
            <p:ph type="title"/>
          </p:nvPr>
        </p:nvSpPr>
        <p:spPr>
          <a:xfrm>
            <a:off x="611188" y="1125538"/>
            <a:ext cx="8229600" cy="865187"/>
          </a:xfrm>
        </p:spPr>
        <p:txBody>
          <a:bodyPr/>
          <a:lstStyle/>
          <a:p>
            <a:pPr algn="ctr" eaLnBrk="1" hangingPunct="1"/>
            <a:r>
              <a:rPr lang="en-US" altLang="zh-CN" sz="4000" b="1" smtClean="0">
                <a:solidFill>
                  <a:srgbClr val="0000FF"/>
                </a:solidFill>
                <a:latin typeface="Arial" charset="0"/>
              </a:rPr>
              <a:t>I</a:t>
            </a:r>
            <a:r>
              <a:rPr lang="zh-CN" altLang="en-US" sz="4000" b="1" smtClean="0">
                <a:solidFill>
                  <a:srgbClr val="0000FF"/>
                </a:solidFill>
                <a:latin typeface="Arial" charset="0"/>
                <a:ea typeface="楷体"/>
                <a:cs typeface="Tahoma" pitchFamily="34" charset="0"/>
              </a:rPr>
              <a:t>、</a:t>
            </a:r>
            <a:r>
              <a:rPr lang="en-US" altLang="zh-CN" sz="4000" b="1" smtClean="0">
                <a:solidFill>
                  <a:srgbClr val="0000FF"/>
                </a:solidFill>
                <a:latin typeface="Arial" charset="0"/>
                <a:ea typeface="楷体"/>
                <a:cs typeface="Tahoma" pitchFamily="34" charset="0"/>
              </a:rPr>
              <a:t>Company Introduction</a:t>
            </a:r>
          </a:p>
        </p:txBody>
      </p:sp>
      <p:pic>
        <p:nvPicPr>
          <p:cNvPr id="5017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9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2636838"/>
            <a:ext cx="4175125" cy="367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3850" y="2636838"/>
            <a:ext cx="4249738" cy="367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6"/>
          <p:cNvSpPr txBox="1">
            <a:spLocks noChangeArrowheads="1"/>
          </p:cNvSpPr>
          <p:nvPr/>
        </p:nvSpPr>
        <p:spPr bwMode="auto">
          <a:xfrm>
            <a:off x="395288" y="1773238"/>
            <a:ext cx="8424862" cy="449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dirty="0">
                <a:ea typeface="楷体"/>
                <a:cs typeface="楷体"/>
              </a:rPr>
              <a:t>        Established in 2007,Intellect Pioneering Battery Technology </a:t>
            </a:r>
            <a:r>
              <a:rPr lang="en-US" altLang="zh-CN" sz="1600" dirty="0" err="1">
                <a:ea typeface="楷体"/>
                <a:cs typeface="楷体"/>
              </a:rPr>
              <a:t>Co.,Ltd</a:t>
            </a:r>
            <a:r>
              <a:rPr lang="en-US" altLang="zh-CN" sz="1600" dirty="0">
                <a:ea typeface="楷体"/>
                <a:cs typeface="楷体"/>
              </a:rPr>
              <a:t> (IP)</a:t>
            </a:r>
            <a:r>
              <a:rPr kumimoji="1" lang="en-US" altLang="zh-CN" sz="1600" dirty="0"/>
              <a:t> is having our headquarters in </a:t>
            </a:r>
            <a:r>
              <a:rPr kumimoji="1" lang="en-US" altLang="zh-CN" sz="1600" dirty="0" err="1"/>
              <a:t>Hongkong</a:t>
            </a:r>
            <a:r>
              <a:rPr kumimoji="1" lang="en-US" altLang="zh-CN" sz="1600" dirty="0"/>
              <a:t> ,and our production plant is located in </a:t>
            </a:r>
            <a:r>
              <a:rPr kumimoji="1" lang="en-US" altLang="zh-CN" sz="1600" dirty="0" err="1"/>
              <a:t>Shunde</a:t>
            </a:r>
            <a:r>
              <a:rPr kumimoji="1" lang="en-US" altLang="zh-CN" sz="1600" dirty="0"/>
              <a:t> </a:t>
            </a:r>
            <a:r>
              <a:rPr kumimoji="1" lang="en-US" altLang="zh-CN" sz="1600" dirty="0" err="1"/>
              <a:t>District,FoShan</a:t>
            </a:r>
            <a:r>
              <a:rPr kumimoji="1" lang="en-US" altLang="zh-CN" sz="1600" dirty="0"/>
              <a:t> ,</a:t>
            </a:r>
            <a:r>
              <a:rPr kumimoji="1" lang="en-US" altLang="zh-CN" sz="1600" dirty="0" err="1"/>
              <a:t>GuangDong</a:t>
            </a:r>
            <a:r>
              <a:rPr kumimoji="1" lang="en-US" altLang="zh-CN" sz="1600" dirty="0"/>
              <a:t> province, PRC, by which we</a:t>
            </a:r>
            <a:r>
              <a:rPr lang="en-US" altLang="zh-CN" sz="1600" dirty="0"/>
              <a:t> enjoy the geographic convenience and fast transportation </a:t>
            </a:r>
            <a:r>
              <a:rPr lang="en-US" altLang="zh-CN" sz="1600" dirty="0" err="1"/>
              <a:t>infrastructure.The</a:t>
            </a:r>
            <a:r>
              <a:rPr lang="en-US" altLang="zh-CN" sz="1600" dirty="0"/>
              <a:t> company is having production space of 20,000 square meters and with </a:t>
            </a:r>
            <a:r>
              <a:rPr kumimoji="1" lang="en-US" altLang="zh-CN" sz="1600" dirty="0"/>
              <a:t>daily production volume over 100,000Ah.</a:t>
            </a:r>
          </a:p>
          <a:p>
            <a:r>
              <a:rPr kumimoji="1" lang="en-US" altLang="zh-CN" sz="1600" dirty="0"/>
              <a:t>         IP is an innovative Hi-Tech corporation with independent intellectual-property and core technologies, which is specialized in high power, high energy and environmental-friendly Lithium-ion polymer battery’s R&amp;D ,Production and management. And </a:t>
            </a:r>
            <a:r>
              <a:rPr lang="en-US" altLang="zh-CN" sz="1600" dirty="0"/>
              <a:t>our batteries are sold across Europe, America, Asia, and so on . Our product range includes high-rate RC battery series, high-power battery series ,high capacity digital products series. Our batteries are widely used in </a:t>
            </a:r>
            <a:r>
              <a:rPr lang="en-US" altLang="zh-CN" sz="1600" dirty="0">
                <a:ea typeface="楷体"/>
                <a:cs typeface="楷体"/>
              </a:rPr>
              <a:t>the remote-control electric airplane and </a:t>
            </a:r>
            <a:r>
              <a:rPr lang="en-US" altLang="zh-CN" sz="1600" dirty="0" err="1">
                <a:ea typeface="楷体"/>
                <a:cs typeface="楷体"/>
              </a:rPr>
              <a:t>cars,electric</a:t>
            </a:r>
            <a:r>
              <a:rPr lang="en-US" altLang="zh-CN" sz="1600" dirty="0">
                <a:ea typeface="楷体"/>
                <a:cs typeface="楷体"/>
              </a:rPr>
              <a:t> model-gun, power motorcycle starter battery, UPS power facilities </a:t>
            </a:r>
            <a:r>
              <a:rPr lang="en-US" altLang="zh-CN" sz="1600" dirty="0" err="1">
                <a:ea typeface="楷体"/>
                <a:cs typeface="楷体"/>
              </a:rPr>
              <a:t>devices,electric</a:t>
            </a:r>
            <a:r>
              <a:rPr lang="en-US" altLang="zh-CN" sz="1600" dirty="0">
                <a:ea typeface="楷体"/>
                <a:cs typeface="楷体"/>
              </a:rPr>
              <a:t> </a:t>
            </a:r>
            <a:r>
              <a:rPr lang="en-US" altLang="zh-CN" sz="1600" dirty="0" err="1">
                <a:ea typeface="楷体"/>
                <a:cs typeface="楷体"/>
              </a:rPr>
              <a:t>bicycle,electric</a:t>
            </a:r>
            <a:r>
              <a:rPr lang="en-US" altLang="zh-CN" sz="1600" dirty="0">
                <a:ea typeface="楷体"/>
                <a:cs typeface="楷体"/>
              </a:rPr>
              <a:t> motorcycle, and mobile phone,MP3/MP4,bluetooth,PDA,GPS,notebook PC, military </a:t>
            </a:r>
            <a:r>
              <a:rPr lang="en-US" altLang="zh-CN" sz="1600" dirty="0" err="1">
                <a:ea typeface="楷体"/>
                <a:cs typeface="楷体"/>
              </a:rPr>
              <a:t>products,and</a:t>
            </a:r>
            <a:r>
              <a:rPr lang="en-US" altLang="zh-CN" sz="1600" dirty="0">
                <a:ea typeface="楷体"/>
                <a:cs typeface="楷体"/>
              </a:rPr>
              <a:t> so on .</a:t>
            </a:r>
            <a:endParaRPr kumimoji="1" lang="en-US" altLang="zh-CN" sz="1600" dirty="0"/>
          </a:p>
          <a:p>
            <a:r>
              <a:rPr kumimoji="1" lang="en-US" altLang="zh-CN" sz="1600" dirty="0"/>
              <a:t>         Since foundation , IP was growing </a:t>
            </a:r>
            <a:r>
              <a:rPr kumimoji="1" lang="zh-CN" altLang="zh-CN" sz="1600" dirty="0"/>
              <a:t>with an annual turnover of 30-50% ,and has passed the ISO</a:t>
            </a:r>
            <a:r>
              <a:rPr kumimoji="1" lang="zh-CN" altLang="zh-CN" sz="1600" dirty="0" smtClean="0"/>
              <a:t>900</a:t>
            </a:r>
            <a:r>
              <a:rPr kumimoji="1" lang="en-US" altLang="zh-CN" sz="1600" dirty="0" smtClean="0"/>
              <a:t>1</a:t>
            </a:r>
            <a:r>
              <a:rPr kumimoji="1" lang="zh-CN" altLang="zh-CN" sz="1600" dirty="0" smtClean="0"/>
              <a:t>: </a:t>
            </a:r>
            <a:r>
              <a:rPr kumimoji="1" lang="zh-CN" altLang="zh-CN" sz="1600" dirty="0"/>
              <a:t>2008 system certification. And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our</a:t>
            </a:r>
            <a:r>
              <a:rPr kumimoji="1" lang="zh-CN" altLang="zh-CN" sz="1600" dirty="0"/>
              <a:t> product</a:t>
            </a:r>
            <a:r>
              <a:rPr kumimoji="1" lang="zh-CN" altLang="en-US" sz="1600" dirty="0"/>
              <a:t>s</a:t>
            </a:r>
            <a:r>
              <a:rPr kumimoji="1" lang="zh-CN" altLang="zh-CN" sz="1600" dirty="0"/>
              <a:t> ha</a:t>
            </a:r>
            <a:r>
              <a:rPr kumimoji="1" lang="zh-CN" altLang="en-US" sz="1600" dirty="0"/>
              <a:t>d</a:t>
            </a:r>
            <a:r>
              <a:rPr kumimoji="1" lang="zh-CN" altLang="zh-CN" sz="1600" dirty="0"/>
              <a:t> passed the UN, UL, CE, ROHS certification</a:t>
            </a:r>
            <a:r>
              <a:rPr kumimoji="1" lang="zh-CN" altLang="en-US" sz="1600" dirty="0"/>
              <a:t>s</a:t>
            </a:r>
            <a:r>
              <a:rPr kumimoji="1" lang="zh-CN" altLang="zh-CN" sz="1600" dirty="0"/>
              <a:t>.</a:t>
            </a:r>
            <a:endParaRPr kumimoji="1" lang="en-GB" altLang="zh-CN" sz="1600" dirty="0"/>
          </a:p>
          <a:p>
            <a:endParaRPr lang="zh-CN" altLang="en-US" sz="1600" dirty="0">
              <a:latin typeface="楷体"/>
              <a:ea typeface="楷体"/>
              <a:cs typeface="楷体"/>
            </a:endParaRPr>
          </a:p>
        </p:txBody>
      </p:sp>
      <p:pic>
        <p:nvPicPr>
          <p:cNvPr id="51203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54138" y="892175"/>
            <a:ext cx="7178675" cy="719138"/>
          </a:xfrm>
        </p:spPr>
        <p:txBody>
          <a:bodyPr anchor="ctr"/>
          <a:lstStyle/>
          <a:p>
            <a:pPr eaLnBrk="1" hangingPunct="1"/>
            <a:r>
              <a:rPr lang="en-US" altLang="zh-CN" sz="36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Company Introduction</a:t>
            </a:r>
          </a:p>
        </p:txBody>
      </p:sp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5949950"/>
            <a:ext cx="8137525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内容占位符 2"/>
          <p:cNvSpPr>
            <a:spLocks noGrp="1"/>
          </p:cNvSpPr>
          <p:nvPr>
            <p:ph idx="4294967295"/>
          </p:nvPr>
        </p:nvSpPr>
        <p:spPr>
          <a:xfrm>
            <a:off x="827088" y="2084388"/>
            <a:ext cx="7489825" cy="3216275"/>
          </a:xfrm>
        </p:spPr>
        <p:txBody>
          <a:bodyPr/>
          <a:lstStyle/>
          <a:p>
            <a:pPr marL="273050" indent="-273050">
              <a:spcBef>
                <a:spcPct val="50000"/>
              </a:spcBef>
            </a:pPr>
            <a:r>
              <a:rPr kumimoji="0" lang="en-US" altLang="zh-CN" sz="2000" smtClean="0">
                <a:latin typeface="Arial" charset="0"/>
              </a:rPr>
              <a:t>It is our mission to offer high quality batteries, to strive as a leading brand in the same trade, creating real and long-lasting value for our customers, prompting career growth for our staff, and supplying clear and safe energy for society. Our vision is to turn ourselves as a prestige and worldwide leading battery export.</a:t>
            </a:r>
          </a:p>
          <a:p>
            <a:pPr marL="273050" indent="-273050">
              <a:spcBef>
                <a:spcPct val="50000"/>
              </a:spcBef>
            </a:pPr>
            <a:r>
              <a:rPr kumimoji="0" lang="en-US" altLang="zh-CN" sz="2000" smtClean="0">
                <a:latin typeface="Arial" charset="0"/>
              </a:rPr>
              <a:t>IP will be an international, high-tech and service-oriented enterprise in future.</a:t>
            </a:r>
          </a:p>
          <a:p>
            <a:pPr marL="273050" indent="-273050">
              <a:buFont typeface="Wingdings" pitchFamily="2" charset="2"/>
              <a:buNone/>
            </a:pPr>
            <a:endParaRPr lang="zh-CN" altLang="en-US" sz="2000" smtClean="0">
              <a:latin typeface="Arial" charset="0"/>
              <a:ea typeface="楷体"/>
              <a:cs typeface="楷体"/>
            </a:endParaRPr>
          </a:p>
          <a:p>
            <a:pPr marL="273050" indent="-273050" eaLnBrk="1" hangingPunct="1">
              <a:spcBef>
                <a:spcPct val="50000"/>
              </a:spcBef>
            </a:pPr>
            <a:endParaRPr lang="en-US" altLang="zh-CN" sz="2600" smtClean="0">
              <a:latin typeface="楷体"/>
              <a:ea typeface="楷体"/>
              <a:cs typeface="楷体"/>
            </a:endParaRPr>
          </a:p>
          <a:p>
            <a:pPr marL="273050" indent="-273050" eaLnBrk="1" hangingPunct="1"/>
            <a:endParaRPr lang="zh-CN" altLang="en-US" sz="2600" smtClean="0">
              <a:latin typeface="楷体"/>
              <a:ea typeface="楷体"/>
              <a:cs typeface="楷体"/>
            </a:endParaRPr>
          </a:p>
        </p:txBody>
      </p:sp>
      <p:sp>
        <p:nvSpPr>
          <p:cNvPr id="53250" name="Text Box 7"/>
          <p:cNvSpPr txBox="1">
            <a:spLocks noChangeArrowheads="1"/>
          </p:cNvSpPr>
          <p:nvPr/>
        </p:nvSpPr>
        <p:spPr bwMode="auto">
          <a:xfrm>
            <a:off x="1187450" y="5475288"/>
            <a:ext cx="693420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4800" b="1">
                <a:solidFill>
                  <a:srgbClr val="E7BB01"/>
                </a:solidFill>
                <a:latin typeface="Tahoma" pitchFamily="34" charset="0"/>
              </a:rPr>
              <a:t>Your Energy Partner!</a:t>
            </a:r>
          </a:p>
        </p:txBody>
      </p:sp>
      <p:pic>
        <p:nvPicPr>
          <p:cNvPr id="53251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2" name="Text Box 5"/>
          <p:cNvSpPr txBox="1">
            <a:spLocks noChangeArrowheads="1"/>
          </p:cNvSpPr>
          <p:nvPr/>
        </p:nvSpPr>
        <p:spPr bwMode="auto">
          <a:xfrm>
            <a:off x="1308100" y="982663"/>
            <a:ext cx="54975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4000">
                <a:solidFill>
                  <a:srgbClr val="0000FF"/>
                </a:solidFill>
              </a:rPr>
              <a:t>Mission and Vision</a:t>
            </a:r>
            <a:endParaRPr kumimoji="1" lang="zh-CN" altLang="en-US" sz="40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3" name="组合 7"/>
          <p:cNvGrpSpPr>
            <a:grpSpLocks/>
          </p:cNvGrpSpPr>
          <p:nvPr/>
        </p:nvGrpSpPr>
        <p:grpSpPr bwMode="auto">
          <a:xfrm>
            <a:off x="214313" y="2276475"/>
            <a:ext cx="8786812" cy="3870325"/>
            <a:chOff x="71406" y="1643050"/>
            <a:chExt cx="10577568" cy="4311650"/>
          </a:xfrm>
        </p:grpSpPr>
        <p:pic>
          <p:nvPicPr>
            <p:cNvPr id="54276" name="Picture 3" descr="F:\文员部门工作\临时文件\完善\IP动力电池宣传PPT\1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1406" y="1643050"/>
              <a:ext cx="2643187" cy="4275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77" name="Picture 4" descr="F:\文员部门工作\临时文件\完善\IP动力电池宣传PPT\13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714612" y="1643050"/>
              <a:ext cx="2643187" cy="4311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78" name="Picture 5" descr="F:\文员部门工作\临时文件\完善\IP动力电池宣传PPT\12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357819" y="1643050"/>
              <a:ext cx="2643186" cy="4275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79" name="Picture 6" descr="F:\文员部门工作\临时文件\完善\IP动力电池宣传PPT\14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001024" y="1643050"/>
              <a:ext cx="2647950" cy="4306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54274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5" name="Rectangle 2"/>
          <p:cNvSpPr txBox="1">
            <a:spLocks noChangeArrowheads="1"/>
          </p:cNvSpPr>
          <p:nvPr/>
        </p:nvSpPr>
        <p:spPr bwMode="auto">
          <a:xfrm>
            <a:off x="1354138" y="892175"/>
            <a:ext cx="7793037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1" lang="zh-CN" altLang="zh-CN" sz="3200" b="1">
                <a:solidFill>
                  <a:srgbClr val="0000FF"/>
                </a:solidFill>
              </a:rPr>
              <a:t>Certification</a:t>
            </a:r>
            <a:r>
              <a:rPr kumimoji="1" lang="zh-CN" altLang="zh-CN" sz="3200">
                <a:solidFill>
                  <a:srgbClr val="0000FF"/>
                </a:solidFill>
              </a:rPr>
              <a:t> </a:t>
            </a:r>
            <a:endParaRPr kumimoji="1" lang="en-US" altLang="zh-CN" sz="32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4"/>
          <p:cNvSpPr txBox="1">
            <a:spLocks noChangeArrowheads="1"/>
          </p:cNvSpPr>
          <p:nvPr/>
        </p:nvSpPr>
        <p:spPr bwMode="auto">
          <a:xfrm>
            <a:off x="1301750" y="1006475"/>
            <a:ext cx="67691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b="1">
                <a:solidFill>
                  <a:srgbClr val="0000FF"/>
                </a:solidFill>
                <a:latin typeface="楷体"/>
                <a:ea typeface="楷体"/>
                <a:cs typeface="楷体"/>
              </a:rPr>
              <a:t> </a:t>
            </a:r>
            <a:r>
              <a:rPr lang="en-US" altLang="zh-CN" sz="3200">
                <a:solidFill>
                  <a:srgbClr val="0000FF"/>
                </a:solidFill>
              </a:rPr>
              <a:t>Production Process</a:t>
            </a:r>
            <a:r>
              <a:rPr lang="en-US" altLang="zh-CN" sz="2800"/>
              <a:t> </a:t>
            </a:r>
            <a:endParaRPr lang="zh-CN" altLang="en-US" sz="2800"/>
          </a:p>
        </p:txBody>
      </p:sp>
      <p:pic>
        <p:nvPicPr>
          <p:cNvPr id="5529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299" name="图片 10" descr="H:\DCIM\109SSCAM\SNV3379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050" y="2212975"/>
            <a:ext cx="1785938" cy="135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0" name="图片 11" descr="H:\DCIM\109SSCAM\SNV3380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313" y="2205038"/>
            <a:ext cx="1622425" cy="136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1" name="图片 12" descr="H:\DCIM\109SSCAM\SNV3381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3775" y="2206625"/>
            <a:ext cx="158115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2" name="AutoShape 21"/>
          <p:cNvSpPr>
            <a:spLocks noChangeArrowheads="1"/>
          </p:cNvSpPr>
          <p:nvPr/>
        </p:nvSpPr>
        <p:spPr bwMode="auto">
          <a:xfrm>
            <a:off x="2317750" y="3617913"/>
            <a:ext cx="280988" cy="3968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6" name="Rectangle 27"/>
          <p:cNvSpPr>
            <a:spLocks noChangeArrowheads="1"/>
          </p:cNvSpPr>
          <p:nvPr/>
        </p:nvSpPr>
        <p:spPr bwMode="auto">
          <a:xfrm>
            <a:off x="273050" y="3557588"/>
            <a:ext cx="1785938" cy="5032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Materials Mixing and coating</a:t>
            </a:r>
          </a:p>
        </p:txBody>
      </p:sp>
      <p:sp>
        <p:nvSpPr>
          <p:cNvPr id="17" name="Rectangle 28"/>
          <p:cNvSpPr>
            <a:spLocks noChangeArrowheads="1"/>
          </p:cNvSpPr>
          <p:nvPr/>
        </p:nvSpPr>
        <p:spPr bwMode="auto">
          <a:xfrm>
            <a:off x="2890838" y="3570288"/>
            <a:ext cx="1295400" cy="5032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Electrode-making</a:t>
            </a:r>
          </a:p>
        </p:txBody>
      </p:sp>
      <p:sp>
        <p:nvSpPr>
          <p:cNvPr id="18" name="Rectangle 29"/>
          <p:cNvSpPr>
            <a:spLocks noChangeArrowheads="1"/>
          </p:cNvSpPr>
          <p:nvPr/>
        </p:nvSpPr>
        <p:spPr bwMode="auto">
          <a:xfrm>
            <a:off x="4946650" y="3573463"/>
            <a:ext cx="1295400" cy="5032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Winding &amp; Stacking</a:t>
            </a:r>
          </a:p>
        </p:txBody>
      </p:sp>
      <p:sp>
        <p:nvSpPr>
          <p:cNvPr id="19" name="Rectangle 31"/>
          <p:cNvSpPr>
            <a:spLocks noChangeArrowheads="1"/>
          </p:cNvSpPr>
          <p:nvPr/>
        </p:nvSpPr>
        <p:spPr bwMode="auto">
          <a:xfrm>
            <a:off x="7245350" y="3573463"/>
            <a:ext cx="1219200" cy="5032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Injection</a:t>
            </a:r>
          </a:p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And Sealing</a:t>
            </a:r>
          </a:p>
        </p:txBody>
      </p:sp>
      <p:sp>
        <p:nvSpPr>
          <p:cNvPr id="20" name="Rectangle 32"/>
          <p:cNvSpPr>
            <a:spLocks noChangeArrowheads="1"/>
          </p:cNvSpPr>
          <p:nvPr/>
        </p:nvSpPr>
        <p:spPr bwMode="auto">
          <a:xfrm>
            <a:off x="965200" y="5915025"/>
            <a:ext cx="1320800" cy="466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Formation</a:t>
            </a:r>
          </a:p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And Grading</a:t>
            </a:r>
          </a:p>
        </p:txBody>
      </p:sp>
      <p:sp>
        <p:nvSpPr>
          <p:cNvPr id="21" name="Rectangle 34"/>
          <p:cNvSpPr>
            <a:spLocks noChangeArrowheads="1"/>
          </p:cNvSpPr>
          <p:nvPr/>
        </p:nvSpPr>
        <p:spPr bwMode="auto">
          <a:xfrm>
            <a:off x="3013075" y="5970588"/>
            <a:ext cx="1219200" cy="4032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Storage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819900" y="5942013"/>
            <a:ext cx="1371600" cy="4111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Final inspection</a:t>
            </a:r>
          </a:p>
        </p:txBody>
      </p:sp>
      <p:sp>
        <p:nvSpPr>
          <p:cNvPr id="23" name="Rectangle 36"/>
          <p:cNvSpPr>
            <a:spLocks noChangeArrowheads="1"/>
          </p:cNvSpPr>
          <p:nvPr/>
        </p:nvSpPr>
        <p:spPr bwMode="auto">
          <a:xfrm>
            <a:off x="4962525" y="5915025"/>
            <a:ext cx="1219200" cy="4127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Verdana" pitchFamily="34" charset="0"/>
                <a:ea typeface="宋体" pitchFamily="2" charset="-122"/>
              </a:rPr>
              <a:t>Packing</a:t>
            </a:r>
          </a:p>
        </p:txBody>
      </p:sp>
      <p:sp>
        <p:nvSpPr>
          <p:cNvPr id="55311" name="AutoShape 37"/>
          <p:cNvSpPr>
            <a:spLocks noChangeArrowheads="1"/>
          </p:cNvSpPr>
          <p:nvPr/>
        </p:nvSpPr>
        <p:spPr bwMode="auto">
          <a:xfrm>
            <a:off x="4478338" y="3617913"/>
            <a:ext cx="252412" cy="3968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5312" name="AutoShape 39"/>
          <p:cNvSpPr>
            <a:spLocks noChangeArrowheads="1"/>
          </p:cNvSpPr>
          <p:nvPr/>
        </p:nvSpPr>
        <p:spPr bwMode="auto">
          <a:xfrm>
            <a:off x="6551613" y="3638550"/>
            <a:ext cx="242887" cy="3968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5313" name="AutoShape 41"/>
          <p:cNvSpPr>
            <a:spLocks noChangeArrowheads="1"/>
          </p:cNvSpPr>
          <p:nvPr/>
        </p:nvSpPr>
        <p:spPr bwMode="auto">
          <a:xfrm>
            <a:off x="2643188" y="5957888"/>
            <a:ext cx="273050" cy="3968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5314" name="AutoShape 42"/>
          <p:cNvSpPr>
            <a:spLocks noChangeArrowheads="1"/>
          </p:cNvSpPr>
          <p:nvPr/>
        </p:nvSpPr>
        <p:spPr bwMode="auto">
          <a:xfrm>
            <a:off x="4565650" y="5918200"/>
            <a:ext cx="263525" cy="3968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5315" name="AutoShape 43"/>
          <p:cNvSpPr>
            <a:spLocks noChangeArrowheads="1"/>
          </p:cNvSpPr>
          <p:nvPr/>
        </p:nvSpPr>
        <p:spPr bwMode="auto">
          <a:xfrm>
            <a:off x="6410325" y="5932488"/>
            <a:ext cx="254000" cy="3968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5316" name="AutoShape 39"/>
          <p:cNvSpPr>
            <a:spLocks noChangeArrowheads="1"/>
          </p:cNvSpPr>
          <p:nvPr/>
        </p:nvSpPr>
        <p:spPr bwMode="auto">
          <a:xfrm>
            <a:off x="438150" y="5915025"/>
            <a:ext cx="293688" cy="3968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kumimoji="1" lang="zh-CN" altLang="en-US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55317" name="图片 29" descr="H:\DCIM\109SSCAM\SNV33819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850" y="4437063"/>
            <a:ext cx="1785938" cy="14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1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643438" y="4437063"/>
            <a:ext cx="1757362" cy="1239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19" name="Picture 27" descr="注液及封装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786563" y="2124075"/>
            <a:ext cx="1871662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20" name="Picture 28" descr="IMG_345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411413" y="4437063"/>
            <a:ext cx="1873250" cy="139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21" name="Picture 31" descr="IMG_344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804025" y="4365625"/>
            <a:ext cx="1871663" cy="145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54138" y="549275"/>
            <a:ext cx="7793037" cy="1143000"/>
          </a:xfrm>
        </p:spPr>
        <p:txBody>
          <a:bodyPr anchor="ctr"/>
          <a:lstStyle/>
          <a:p>
            <a:pPr eaLnBrk="1" hangingPunct="1"/>
            <a:r>
              <a:rPr lang="en-US" altLang="zh-CN" sz="32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Quality Control</a:t>
            </a:r>
          </a:p>
        </p:txBody>
      </p:sp>
      <p:pic>
        <p:nvPicPr>
          <p:cNvPr id="56322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组合 39"/>
          <p:cNvGrpSpPr>
            <a:grpSpLocks/>
          </p:cNvGrpSpPr>
          <p:nvPr/>
        </p:nvGrpSpPr>
        <p:grpSpPr bwMode="auto">
          <a:xfrm>
            <a:off x="549275" y="1909763"/>
            <a:ext cx="8126413" cy="4613275"/>
            <a:chOff x="505270" y="1159379"/>
            <a:chExt cx="8210134" cy="5555769"/>
          </a:xfrm>
        </p:grpSpPr>
        <p:grpSp>
          <p:nvGrpSpPr>
            <p:cNvPr id="6" name="组合 25"/>
            <p:cNvGrpSpPr>
              <a:grpSpLocks/>
            </p:cNvGrpSpPr>
            <p:nvPr/>
          </p:nvGrpSpPr>
          <p:grpSpPr bwMode="auto">
            <a:xfrm>
              <a:off x="505270" y="1159379"/>
              <a:ext cx="8181265" cy="4770007"/>
              <a:chOff x="505270" y="1500174"/>
              <a:chExt cx="8181265" cy="4770007"/>
            </a:xfrm>
          </p:grpSpPr>
          <p:grpSp>
            <p:nvGrpSpPr>
              <p:cNvPr id="17" name="组合 24"/>
              <p:cNvGrpSpPr>
                <a:grpSpLocks/>
              </p:cNvGrpSpPr>
              <p:nvPr/>
            </p:nvGrpSpPr>
            <p:grpSpPr bwMode="auto">
              <a:xfrm>
                <a:off x="505270" y="1528851"/>
                <a:ext cx="8181265" cy="4580737"/>
                <a:chOff x="505270" y="1528851"/>
                <a:chExt cx="8181265" cy="4580737"/>
              </a:xfrm>
            </p:grpSpPr>
            <p:sp>
              <p:nvSpPr>
                <p:cNvPr id="33" name="圆角矩形 32"/>
                <p:cNvSpPr/>
                <p:nvPr/>
              </p:nvSpPr>
              <p:spPr>
                <a:xfrm>
                  <a:off x="505270" y="1679886"/>
                  <a:ext cx="1821979" cy="1261806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1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</a:rPr>
                    <a:t>Co-R&amp;D with suppliers for main raw-materials</a:t>
                  </a:r>
                  <a:endParaRPr lang="zh-CN" altLang="en-US" sz="1600" dirty="0">
                    <a:latin typeface="+mj-lt"/>
                  </a:endParaRPr>
                </a:p>
              </p:txBody>
            </p:sp>
            <p:sp>
              <p:nvSpPr>
                <p:cNvPr id="34" name="圆角矩形 33"/>
                <p:cNvSpPr/>
                <p:nvPr/>
              </p:nvSpPr>
              <p:spPr>
                <a:xfrm>
                  <a:off x="505270" y="4914697"/>
                  <a:ext cx="1756222" cy="1187244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1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CE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、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UL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、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UN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  <a:latin typeface="+mj-lt"/>
                    </a:rPr>
                    <a:t> 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</a:rPr>
                    <a:t>Certification</a:t>
                  </a:r>
                  <a:endParaRPr lang="zh-CN" altLang="en-US" sz="1600" b="1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35" name="圆角矩形 34"/>
                <p:cNvSpPr/>
                <p:nvPr/>
              </p:nvSpPr>
              <p:spPr>
                <a:xfrm>
                  <a:off x="6777947" y="1528851"/>
                  <a:ext cx="1874906" cy="1311513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1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600" b="1" dirty="0" smtClean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ISO9001:2008                 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</a:rPr>
                    <a:t>Quality-Control System</a:t>
                  </a:r>
                  <a:endParaRPr lang="zh-CN" altLang="en-US" sz="1600" dirty="0">
                    <a:latin typeface="+mj-lt"/>
                  </a:endParaRPr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>
                  <a:off x="6829271" y="4784693"/>
                  <a:ext cx="1857264" cy="1324895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1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600" b="1" dirty="0">
                      <a:latin typeface="+mj-lt"/>
                    </a:rPr>
                    <a:t>QC Improvement System</a:t>
                  </a:r>
                  <a:endParaRPr lang="zh-CN" altLang="en-US" sz="1600" b="1" dirty="0">
                    <a:latin typeface="+mj-lt"/>
                  </a:endParaRPr>
                </a:p>
              </p:txBody>
            </p:sp>
          </p:grpSp>
          <p:grpSp>
            <p:nvGrpSpPr>
              <p:cNvPr id="18" name="组合 23"/>
              <p:cNvGrpSpPr>
                <a:grpSpLocks/>
              </p:cNvGrpSpPr>
              <p:nvPr/>
            </p:nvGrpSpPr>
            <p:grpSpPr bwMode="auto">
              <a:xfrm>
                <a:off x="2075443" y="1500174"/>
                <a:ext cx="4702503" cy="4770007"/>
                <a:chOff x="2075443" y="1500174"/>
                <a:chExt cx="4702503" cy="4770007"/>
              </a:xfrm>
            </p:grpSpPr>
            <p:grpSp>
              <p:nvGrpSpPr>
                <p:cNvPr id="19" name="组合 9"/>
                <p:cNvGrpSpPr>
                  <a:grpSpLocks/>
                </p:cNvGrpSpPr>
                <p:nvPr/>
              </p:nvGrpSpPr>
              <p:grpSpPr bwMode="auto">
                <a:xfrm>
                  <a:off x="2327628" y="1500174"/>
                  <a:ext cx="4060118" cy="4143419"/>
                  <a:chOff x="2266732" y="1500174"/>
                  <a:chExt cx="4460029" cy="4551535"/>
                </a:xfrm>
              </p:grpSpPr>
              <p:pic>
                <p:nvPicPr>
                  <p:cNvPr id="26" name="图片 2" descr="H:\图形1.jpg"/>
                  <p:cNvPicPr>
                    <a:picLocks noChangeAspect="1" noChangeArrowheads="1"/>
                  </p:cNvPicPr>
                  <p:nvPr/>
                </p:nvPicPr>
                <p:blipFill>
                  <a:blip r:embed="rId4"/>
                  <a:srcRect/>
                  <a:stretch>
                    <a:fillRect/>
                  </a:stretch>
                </p:blipFill>
                <p:spPr bwMode="auto">
                  <a:xfrm>
                    <a:off x="2266732" y="1500174"/>
                    <a:ext cx="4460029" cy="45515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grpSp>
                <p:nvGrpSpPr>
                  <p:cNvPr id="27" name="组合 8"/>
                  <p:cNvGrpSpPr>
                    <a:grpSpLocks/>
                  </p:cNvGrpSpPr>
                  <p:nvPr/>
                </p:nvGrpSpPr>
                <p:grpSpPr bwMode="auto">
                  <a:xfrm>
                    <a:off x="2479498" y="2403233"/>
                    <a:ext cx="4062781" cy="3645838"/>
                    <a:chOff x="2479498" y="2403233"/>
                    <a:chExt cx="4062781" cy="3645838"/>
                  </a:xfrm>
                </p:grpSpPr>
                <p:sp>
                  <p:nvSpPr>
                    <p:cNvPr id="28" name="TextBox 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16855" y="2403233"/>
                      <a:ext cx="1571553" cy="114037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Product Quality-control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  <p:sp>
                  <p:nvSpPr>
                    <p:cNvPr id="29" name="TextBox 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473890" y="2413733"/>
                      <a:ext cx="1571553" cy="7980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Quality plan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  <p:sp>
                  <p:nvSpPr>
                    <p:cNvPr id="30" name="TextBox 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79498" y="3932133"/>
                      <a:ext cx="1571553" cy="114037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Procedure Quality-control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  <p:sp>
                  <p:nvSpPr>
                    <p:cNvPr id="31" name="TextBox 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18553" y="5251019"/>
                      <a:ext cx="2161766" cy="7980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Raw-materials Quality-control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  <p:sp>
                  <p:nvSpPr>
                    <p:cNvPr id="32" name="TextBox 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45212" y="4026639"/>
                      <a:ext cx="1797067" cy="113827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Supplier’s Quality-control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</p:grpSp>
            </p:grpSp>
            <p:grpSp>
              <p:nvGrpSpPr>
                <p:cNvPr id="20" name="组合 22"/>
                <p:cNvGrpSpPr>
                  <a:grpSpLocks/>
                </p:cNvGrpSpPr>
                <p:nvPr/>
              </p:nvGrpSpPr>
              <p:grpSpPr bwMode="auto">
                <a:xfrm>
                  <a:off x="2075443" y="1591942"/>
                  <a:ext cx="4702503" cy="4678239"/>
                  <a:chOff x="2075443" y="1591942"/>
                  <a:chExt cx="4702503" cy="4678239"/>
                </a:xfrm>
              </p:grpSpPr>
              <p:sp>
                <p:nvSpPr>
                  <p:cNvPr id="21" name="环形箭头 20"/>
                  <p:cNvSpPr/>
                  <p:nvPr/>
                </p:nvSpPr>
                <p:spPr>
                  <a:xfrm rot="1585281">
                    <a:off x="4489245" y="1591942"/>
                    <a:ext cx="1849245" cy="1277100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" name="环形箭头 21"/>
                  <p:cNvSpPr/>
                  <p:nvPr/>
                </p:nvSpPr>
                <p:spPr>
                  <a:xfrm rot="5400000">
                    <a:off x="5214442" y="3785177"/>
                    <a:ext cx="1848736" cy="1278273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" name="环形箭头 22"/>
                  <p:cNvSpPr/>
                  <p:nvPr/>
                </p:nvSpPr>
                <p:spPr>
                  <a:xfrm rot="14503676">
                    <a:off x="1789410" y="4030693"/>
                    <a:ext cx="1848736" cy="1276669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" name="环形箭头 23"/>
                  <p:cNvSpPr/>
                  <p:nvPr/>
                </p:nvSpPr>
                <p:spPr>
                  <a:xfrm rot="10268742">
                    <a:off x="3658448" y="4993081"/>
                    <a:ext cx="1849245" cy="1277100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" name="环形箭头 24"/>
                  <p:cNvSpPr/>
                  <p:nvPr/>
                </p:nvSpPr>
                <p:spPr>
                  <a:xfrm rot="19212431">
                    <a:off x="2312815" y="1635913"/>
                    <a:ext cx="1849244" cy="1279013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7" name="组合 38"/>
            <p:cNvGrpSpPr>
              <a:grpSpLocks/>
            </p:cNvGrpSpPr>
            <p:nvPr/>
          </p:nvGrpSpPr>
          <p:grpSpPr bwMode="auto">
            <a:xfrm>
              <a:off x="700941" y="5847179"/>
              <a:ext cx="8014463" cy="867969"/>
              <a:chOff x="629503" y="5847179"/>
              <a:chExt cx="8014463" cy="867969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29503" y="5847179"/>
                <a:ext cx="1170814" cy="778112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dirty="0">
                    <a:latin typeface="+mj-lt"/>
                    <a:ea typeface="+mn-ea"/>
                    <a:cs typeface="Times New Roman" pitchFamily="18" charset="0"/>
                  </a:rPr>
                  <a:t>ISO9001: 2008</a:t>
                </a:r>
                <a:endParaRPr lang="zh-CN" altLang="en-US" b="1" dirty="0">
                  <a:latin typeface="+mj-lt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501202" y="5858650"/>
                <a:ext cx="1079394" cy="83164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800" b="1" dirty="0">
                    <a:latin typeface="Century Gothic" pitchFamily="34" charset="0"/>
                    <a:ea typeface="+mn-ea"/>
                    <a:cs typeface="Times New Roman" pitchFamily="18" charset="0"/>
                  </a:rPr>
                  <a:t>CE</a:t>
                </a:r>
                <a:endParaRPr lang="zh-CN" altLang="en-US" sz="2800" b="1" dirty="0">
                  <a:latin typeface="Century Gothic" pitchFamily="34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500410" y="5883503"/>
                <a:ext cx="1079394" cy="831645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800" b="1" dirty="0">
                    <a:latin typeface="Century Gothic" pitchFamily="34" charset="0"/>
                    <a:ea typeface="+mn-ea"/>
                    <a:cs typeface="Times New Roman" pitchFamily="18" charset="0"/>
                  </a:rPr>
                  <a:t>UN</a:t>
                </a:r>
                <a:endParaRPr lang="zh-CN" altLang="en-US" sz="2800" b="1" dirty="0">
                  <a:latin typeface="Century Gothic" pitchFamily="34" charset="0"/>
                  <a:ea typeface="+mn-ea"/>
                  <a:cs typeface="Times New Roman" pitchFamily="18" charset="0"/>
                </a:endParaRPr>
              </a:p>
            </p:txBody>
          </p:sp>
          <p:grpSp>
            <p:nvGrpSpPr>
              <p:cNvPr id="11" name="组合 36"/>
              <p:cNvGrpSpPr>
                <a:grpSpLocks/>
              </p:cNvGrpSpPr>
              <p:nvPr/>
            </p:nvGrpSpPr>
            <p:grpSpPr bwMode="auto">
              <a:xfrm>
                <a:off x="4000805" y="5883504"/>
                <a:ext cx="1079395" cy="831644"/>
                <a:chOff x="3572177" y="5883504"/>
                <a:chExt cx="1079395" cy="831644"/>
              </a:xfrm>
            </p:grpSpPr>
            <p:sp>
              <p:nvSpPr>
                <p:cNvPr id="15" name="TextBox 14"/>
                <p:cNvSpPr txBox="1"/>
                <p:nvPr/>
              </p:nvSpPr>
              <p:spPr>
                <a:xfrm>
                  <a:off x="3572177" y="5883504"/>
                  <a:ext cx="1079395" cy="83164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000" b="1" baseline="-25000" dirty="0">
                    <a:latin typeface="Century Gothic" pitchFamily="34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3857663" y="6000126"/>
                  <a:ext cx="570972" cy="688257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altLang="zh-CN" b="1" dirty="0">
                    <a:solidFill>
                      <a:schemeClr val="tx1"/>
                    </a:solidFill>
                    <a:latin typeface="Century Gothic" pitchFamily="34" charset="0"/>
                    <a:cs typeface="Times New Roman" pitchFamily="18" charset="0"/>
                  </a:endParaRPr>
                </a:p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dirty="0">
                      <a:solidFill>
                        <a:schemeClr val="tx1"/>
                      </a:solidFill>
                      <a:latin typeface="Century Gothic" pitchFamily="34" charset="0"/>
                      <a:cs typeface="Times New Roman" pitchFamily="18" charset="0"/>
                    </a:rPr>
                    <a:t>U</a:t>
                  </a:r>
                  <a:r>
                    <a:rPr lang="en-US" altLang="zh-CN" b="1" baseline="-25000" dirty="0">
                      <a:solidFill>
                        <a:schemeClr val="tx1"/>
                      </a:solidFill>
                      <a:latin typeface="Century Gothic" pitchFamily="34" charset="0"/>
                      <a:cs typeface="Times New Roman" pitchFamily="18" charset="0"/>
                    </a:rPr>
                    <a:t>L</a:t>
                  </a:r>
                  <a:endParaRPr lang="zh-CN" altLang="en-US" b="1" baseline="-25000" dirty="0">
                    <a:solidFill>
                      <a:schemeClr val="tx1"/>
                    </a:solidFill>
                    <a:latin typeface="Century Gothic" pitchFamily="34" charset="0"/>
                    <a:cs typeface="Times New Roman" pitchFamily="18" charset="0"/>
                  </a:endParaRPr>
                </a:p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" name="组合 37"/>
              <p:cNvGrpSpPr>
                <a:grpSpLocks/>
              </p:cNvGrpSpPr>
              <p:nvPr/>
            </p:nvGrpSpPr>
            <p:grpSpPr bwMode="auto">
              <a:xfrm>
                <a:off x="7001618" y="5883504"/>
                <a:ext cx="1642348" cy="831644"/>
                <a:chOff x="7144494" y="5954942"/>
                <a:chExt cx="1642348" cy="831644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7144494" y="5954942"/>
                  <a:ext cx="1642348" cy="83164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800" b="1" dirty="0">
                    <a:latin typeface="Century Gothic" pitchFamily="34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7274406" y="6071564"/>
                  <a:ext cx="1297519" cy="57163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RoHS</a:t>
                  </a:r>
                  <a:endParaRPr lang="zh-CN" altLang="en-US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371600" y="1143000"/>
            <a:ext cx="6553200" cy="523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dirty="0">
                <a:solidFill>
                  <a:srgbClr val="00B0F0"/>
                </a:solidFill>
                <a:latin typeface="+mj-lt"/>
              </a:rPr>
              <a:t>Quality Control</a:t>
            </a:r>
          </a:p>
        </p:txBody>
      </p:sp>
      <p:pic>
        <p:nvPicPr>
          <p:cNvPr id="54275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39"/>
          <p:cNvGrpSpPr>
            <a:grpSpLocks/>
          </p:cNvGrpSpPr>
          <p:nvPr/>
        </p:nvGrpSpPr>
        <p:grpSpPr bwMode="auto">
          <a:xfrm>
            <a:off x="549275" y="1909763"/>
            <a:ext cx="8126413" cy="4613275"/>
            <a:chOff x="505270" y="1159379"/>
            <a:chExt cx="8210134" cy="5555769"/>
          </a:xfrm>
        </p:grpSpPr>
        <p:grpSp>
          <p:nvGrpSpPr>
            <p:cNvPr id="3" name="组合 25"/>
            <p:cNvGrpSpPr>
              <a:grpSpLocks/>
            </p:cNvGrpSpPr>
            <p:nvPr/>
          </p:nvGrpSpPr>
          <p:grpSpPr bwMode="auto">
            <a:xfrm>
              <a:off x="505270" y="1159379"/>
              <a:ext cx="8181669" cy="4769951"/>
              <a:chOff x="505270" y="1500174"/>
              <a:chExt cx="8181669" cy="4769951"/>
            </a:xfrm>
          </p:grpSpPr>
          <p:grpSp>
            <p:nvGrpSpPr>
              <p:cNvPr id="4" name="组合 24"/>
              <p:cNvGrpSpPr>
                <a:grpSpLocks/>
              </p:cNvGrpSpPr>
              <p:nvPr/>
            </p:nvGrpSpPr>
            <p:grpSpPr bwMode="auto">
              <a:xfrm>
                <a:off x="505270" y="1528373"/>
                <a:ext cx="8181669" cy="4581522"/>
                <a:chOff x="505270" y="1528373"/>
                <a:chExt cx="8181669" cy="4581522"/>
              </a:xfrm>
            </p:grpSpPr>
            <p:sp>
              <p:nvSpPr>
                <p:cNvPr id="41" name="圆角矩形 40"/>
                <p:cNvSpPr/>
                <p:nvPr/>
              </p:nvSpPr>
              <p:spPr>
                <a:xfrm>
                  <a:off x="505270" y="1679886"/>
                  <a:ext cx="1821979" cy="1261806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1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</a:rPr>
                    <a:t>Co-R&amp;D with suppliers for main raw-materials</a:t>
                  </a:r>
                  <a:endParaRPr lang="zh-CN" altLang="en-US" sz="1600" dirty="0">
                    <a:latin typeface="+mj-lt"/>
                  </a:endParaRPr>
                </a:p>
              </p:txBody>
            </p:sp>
            <p:sp>
              <p:nvSpPr>
                <p:cNvPr id="42" name="圆角矩形 41"/>
                <p:cNvSpPr/>
                <p:nvPr/>
              </p:nvSpPr>
              <p:spPr>
                <a:xfrm>
                  <a:off x="505270" y="4914697"/>
                  <a:ext cx="1756222" cy="1187244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1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CE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、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UL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、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UN</a:t>
                  </a:r>
                  <a:r>
                    <a:rPr lang="zh-CN" altLang="en-US" sz="1600" b="1" dirty="0">
                      <a:solidFill>
                        <a:schemeClr val="bg1"/>
                      </a:solidFill>
                      <a:latin typeface="+mj-lt"/>
                    </a:rPr>
                    <a:t> 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</a:rPr>
                    <a:t>Certification</a:t>
                  </a:r>
                  <a:endParaRPr lang="zh-CN" altLang="en-US" sz="1600" b="1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43" name="圆角矩形 42"/>
                <p:cNvSpPr/>
                <p:nvPr/>
              </p:nvSpPr>
              <p:spPr>
                <a:xfrm>
                  <a:off x="6777947" y="1528851"/>
                  <a:ext cx="1874906" cy="1311513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1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600" b="1" dirty="0" smtClean="0">
                      <a:solidFill>
                        <a:schemeClr val="bg1"/>
                      </a:solidFill>
                      <a:latin typeface="+mj-lt"/>
                      <a:cs typeface="Times New Roman" pitchFamily="18" charset="0"/>
                    </a:rPr>
                    <a:t>ISO9001:2008                 </a:t>
                  </a:r>
                  <a:r>
                    <a:rPr lang="en-US" altLang="zh-CN" sz="1600" b="1" dirty="0">
                      <a:solidFill>
                        <a:schemeClr val="bg1"/>
                      </a:solidFill>
                      <a:latin typeface="+mj-lt"/>
                    </a:rPr>
                    <a:t>Quality-Control System</a:t>
                  </a:r>
                  <a:endParaRPr lang="zh-CN" altLang="en-US" sz="1600" dirty="0">
                    <a:latin typeface="+mj-lt"/>
                  </a:endParaRPr>
                </a:p>
              </p:txBody>
            </p:sp>
            <p:sp>
              <p:nvSpPr>
                <p:cNvPr id="44" name="圆角矩形 43"/>
                <p:cNvSpPr/>
                <p:nvPr/>
              </p:nvSpPr>
              <p:spPr>
                <a:xfrm>
                  <a:off x="6829271" y="4784693"/>
                  <a:ext cx="1857264" cy="1324895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1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600" b="1" dirty="0">
                      <a:latin typeface="+mj-lt"/>
                    </a:rPr>
                    <a:t>QC Improvement System</a:t>
                  </a:r>
                  <a:endParaRPr lang="zh-CN" altLang="en-US" sz="1600" b="1" dirty="0">
                    <a:latin typeface="+mj-lt"/>
                  </a:endParaRPr>
                </a:p>
              </p:txBody>
            </p:sp>
          </p:grpSp>
          <p:grpSp>
            <p:nvGrpSpPr>
              <p:cNvPr id="5" name="组合 23"/>
              <p:cNvGrpSpPr>
                <a:grpSpLocks/>
              </p:cNvGrpSpPr>
              <p:nvPr/>
            </p:nvGrpSpPr>
            <p:grpSpPr bwMode="auto">
              <a:xfrm>
                <a:off x="2075341" y="1500174"/>
                <a:ext cx="4703011" cy="4769951"/>
                <a:chOff x="2075341" y="1500174"/>
                <a:chExt cx="4703011" cy="4769951"/>
              </a:xfrm>
            </p:grpSpPr>
            <p:grpSp>
              <p:nvGrpSpPr>
                <p:cNvPr id="6" name="组合 9"/>
                <p:cNvGrpSpPr>
                  <a:grpSpLocks/>
                </p:cNvGrpSpPr>
                <p:nvPr/>
              </p:nvGrpSpPr>
              <p:grpSpPr bwMode="auto">
                <a:xfrm>
                  <a:off x="2327628" y="1500174"/>
                  <a:ext cx="4060118" cy="4143419"/>
                  <a:chOff x="2266732" y="1500174"/>
                  <a:chExt cx="4460029" cy="4551535"/>
                </a:xfrm>
              </p:grpSpPr>
              <p:pic>
                <p:nvPicPr>
                  <p:cNvPr id="54297" name="图片 2" descr="H:\图形1.jpg"/>
                  <p:cNvPicPr>
                    <a:picLocks noChangeAspect="1" noChangeArrowheads="1"/>
                  </p:cNvPicPr>
                  <p:nvPr/>
                </p:nvPicPr>
                <p:blipFill>
                  <a:blip r:embed="rId3"/>
                  <a:srcRect/>
                  <a:stretch>
                    <a:fillRect/>
                  </a:stretch>
                </p:blipFill>
                <p:spPr bwMode="auto">
                  <a:xfrm>
                    <a:off x="2266732" y="1500174"/>
                    <a:ext cx="4460029" cy="45515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grpSp>
                <p:nvGrpSpPr>
                  <p:cNvPr id="7" name="组合 8"/>
                  <p:cNvGrpSpPr>
                    <a:grpSpLocks/>
                  </p:cNvGrpSpPr>
                  <p:nvPr/>
                </p:nvGrpSpPr>
                <p:grpSpPr bwMode="auto">
                  <a:xfrm>
                    <a:off x="2480623" y="2403076"/>
                    <a:ext cx="4062196" cy="3646919"/>
                    <a:chOff x="2480623" y="2403076"/>
                    <a:chExt cx="4062196" cy="3646919"/>
                  </a:xfrm>
                </p:grpSpPr>
                <p:sp>
                  <p:nvSpPr>
                    <p:cNvPr id="36" name="TextBox 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16855" y="2403233"/>
                      <a:ext cx="1571553" cy="114037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Product Quality-control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  <p:sp>
                  <p:nvSpPr>
                    <p:cNvPr id="37" name="TextBox 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473890" y="2413733"/>
                      <a:ext cx="1571553" cy="7980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Quality plan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  <p:sp>
                  <p:nvSpPr>
                    <p:cNvPr id="38" name="TextBox 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79498" y="3932133"/>
                      <a:ext cx="1571553" cy="114037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Procedure Quality-control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  <p:sp>
                  <p:nvSpPr>
                    <p:cNvPr id="39" name="TextBox 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18553" y="5251019"/>
                      <a:ext cx="2161766" cy="79805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Raw-materials Quality-control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  <p:sp>
                  <p:nvSpPr>
                    <p:cNvPr id="40" name="TextBox 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45212" y="4026639"/>
                      <a:ext cx="1797067" cy="1138274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+mj-lt"/>
                          <a:ea typeface="宋体" charset="-122"/>
                        </a:rPr>
                        <a:t>Supplier’s Quality-control</a:t>
                      </a:r>
                      <a:endParaRPr lang="zh-CN" altLang="en-US" b="1" dirty="0">
                        <a:solidFill>
                          <a:schemeClr val="bg1"/>
                        </a:solidFill>
                        <a:latin typeface="+mj-lt"/>
                        <a:ea typeface="宋体" charset="-122"/>
                      </a:endParaRPr>
                    </a:p>
                  </p:txBody>
                </p:sp>
              </p:grpSp>
            </p:grpSp>
            <p:grpSp>
              <p:nvGrpSpPr>
                <p:cNvPr id="8" name="组合 22"/>
                <p:cNvGrpSpPr>
                  <a:grpSpLocks/>
                </p:cNvGrpSpPr>
                <p:nvPr/>
              </p:nvGrpSpPr>
              <p:grpSpPr bwMode="auto">
                <a:xfrm>
                  <a:off x="2075341" y="1592332"/>
                  <a:ext cx="4703011" cy="4677793"/>
                  <a:chOff x="2075341" y="1592332"/>
                  <a:chExt cx="4703011" cy="4677793"/>
                </a:xfrm>
              </p:grpSpPr>
              <p:sp>
                <p:nvSpPr>
                  <p:cNvPr id="29" name="环形箭头 28"/>
                  <p:cNvSpPr/>
                  <p:nvPr/>
                </p:nvSpPr>
                <p:spPr>
                  <a:xfrm rot="1585281">
                    <a:off x="4489245" y="1591942"/>
                    <a:ext cx="1849245" cy="1277100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" name="环形箭头 29"/>
                  <p:cNvSpPr/>
                  <p:nvPr/>
                </p:nvSpPr>
                <p:spPr>
                  <a:xfrm rot="5400000">
                    <a:off x="5214442" y="3785177"/>
                    <a:ext cx="1848736" cy="1278273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" name="环形箭头 30"/>
                  <p:cNvSpPr/>
                  <p:nvPr/>
                </p:nvSpPr>
                <p:spPr>
                  <a:xfrm rot="14503676">
                    <a:off x="1789410" y="4030693"/>
                    <a:ext cx="1848736" cy="1276669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" name="环形箭头 31"/>
                  <p:cNvSpPr/>
                  <p:nvPr/>
                </p:nvSpPr>
                <p:spPr>
                  <a:xfrm rot="10268742">
                    <a:off x="3658448" y="4993081"/>
                    <a:ext cx="1849245" cy="1277100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环形箭头 32"/>
                  <p:cNvSpPr/>
                  <p:nvPr/>
                </p:nvSpPr>
                <p:spPr>
                  <a:xfrm rot="19212431">
                    <a:off x="2312815" y="1635913"/>
                    <a:ext cx="1849244" cy="1279013"/>
                  </a:xfrm>
                  <a:prstGeom prst="circularArrow">
                    <a:avLst>
                      <a:gd name="adj1" fmla="val 12500"/>
                      <a:gd name="adj2" fmla="val 647932"/>
                      <a:gd name="adj3" fmla="val 20457681"/>
                      <a:gd name="adj4" fmla="val 12813822"/>
                      <a:gd name="adj5" fmla="val 15138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9" name="组合 38"/>
            <p:cNvGrpSpPr>
              <a:grpSpLocks/>
            </p:cNvGrpSpPr>
            <p:nvPr/>
          </p:nvGrpSpPr>
          <p:grpSpPr bwMode="auto">
            <a:xfrm>
              <a:off x="700282" y="5846978"/>
              <a:ext cx="8015122" cy="868170"/>
              <a:chOff x="628844" y="5846978"/>
              <a:chExt cx="8015122" cy="868170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629503" y="5847179"/>
                <a:ext cx="1170814" cy="778112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b="1" dirty="0">
                    <a:latin typeface="+mj-lt"/>
                    <a:ea typeface="+mn-ea"/>
                    <a:cs typeface="Times New Roman" pitchFamily="18" charset="0"/>
                  </a:rPr>
                  <a:t>ISO9001: 2008</a:t>
                </a:r>
                <a:endParaRPr lang="zh-CN" altLang="en-US" b="1" dirty="0">
                  <a:latin typeface="+mj-lt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501202" y="5858650"/>
                <a:ext cx="1079394" cy="831644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800" b="1" dirty="0">
                    <a:latin typeface="Century Gothic" pitchFamily="34" charset="0"/>
                    <a:ea typeface="+mn-ea"/>
                    <a:cs typeface="Times New Roman" pitchFamily="18" charset="0"/>
                  </a:rPr>
                  <a:t>CE</a:t>
                </a:r>
                <a:endParaRPr lang="zh-CN" altLang="en-US" sz="2800" b="1" dirty="0">
                  <a:latin typeface="Century Gothic" pitchFamily="34" charset="0"/>
                  <a:ea typeface="+mn-ea"/>
                  <a:cs typeface="Times New Roman" pitchFamily="18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500410" y="5883503"/>
                <a:ext cx="1079394" cy="831645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anchor="ctr"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800" b="1" dirty="0">
                    <a:latin typeface="Century Gothic" pitchFamily="34" charset="0"/>
                    <a:ea typeface="+mn-ea"/>
                    <a:cs typeface="Times New Roman" pitchFamily="18" charset="0"/>
                  </a:rPr>
                  <a:t>UN</a:t>
                </a:r>
                <a:endParaRPr lang="zh-CN" altLang="en-US" sz="2800" b="1" dirty="0">
                  <a:latin typeface="Century Gothic" pitchFamily="34" charset="0"/>
                  <a:ea typeface="+mn-ea"/>
                  <a:cs typeface="Times New Roman" pitchFamily="18" charset="0"/>
                </a:endParaRPr>
              </a:p>
            </p:txBody>
          </p:sp>
          <p:grpSp>
            <p:nvGrpSpPr>
              <p:cNvPr id="10" name="组合 36"/>
              <p:cNvGrpSpPr>
                <a:grpSpLocks/>
              </p:cNvGrpSpPr>
              <p:nvPr/>
            </p:nvGrpSpPr>
            <p:grpSpPr bwMode="auto">
              <a:xfrm>
                <a:off x="4000496" y="5883370"/>
                <a:ext cx="1079508" cy="831778"/>
                <a:chOff x="3571868" y="5883370"/>
                <a:chExt cx="1079508" cy="831778"/>
              </a:xfrm>
            </p:grpSpPr>
            <p:sp>
              <p:nvSpPr>
                <p:cNvPr id="23" name="TextBox 22"/>
                <p:cNvSpPr txBox="1"/>
                <p:nvPr/>
              </p:nvSpPr>
              <p:spPr>
                <a:xfrm>
                  <a:off x="3572177" y="5883504"/>
                  <a:ext cx="1079395" cy="83164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4000" b="1" baseline="-25000" dirty="0">
                    <a:latin typeface="Century Gothic" pitchFamily="34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24" name="椭圆 23"/>
                <p:cNvSpPr/>
                <p:nvPr/>
              </p:nvSpPr>
              <p:spPr>
                <a:xfrm>
                  <a:off x="3857663" y="6000126"/>
                  <a:ext cx="570972" cy="688257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altLang="zh-CN" b="1" dirty="0">
                    <a:solidFill>
                      <a:schemeClr val="tx1"/>
                    </a:solidFill>
                    <a:latin typeface="Century Gothic" pitchFamily="34" charset="0"/>
                    <a:cs typeface="Times New Roman" pitchFamily="18" charset="0"/>
                  </a:endParaRPr>
                </a:p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dirty="0">
                      <a:solidFill>
                        <a:schemeClr val="tx1"/>
                      </a:solidFill>
                      <a:latin typeface="Century Gothic" pitchFamily="34" charset="0"/>
                      <a:cs typeface="Times New Roman" pitchFamily="18" charset="0"/>
                    </a:rPr>
                    <a:t>U</a:t>
                  </a:r>
                  <a:r>
                    <a:rPr lang="en-US" altLang="zh-CN" b="1" baseline="-25000" dirty="0">
                      <a:solidFill>
                        <a:schemeClr val="tx1"/>
                      </a:solidFill>
                      <a:latin typeface="Century Gothic" pitchFamily="34" charset="0"/>
                      <a:cs typeface="Times New Roman" pitchFamily="18" charset="0"/>
                    </a:rPr>
                    <a:t>L</a:t>
                  </a:r>
                  <a:endParaRPr lang="zh-CN" altLang="en-US" b="1" baseline="-25000" dirty="0">
                    <a:solidFill>
                      <a:schemeClr val="tx1"/>
                    </a:solidFill>
                    <a:latin typeface="Century Gothic" pitchFamily="34" charset="0"/>
                    <a:cs typeface="Times New Roman" pitchFamily="18" charset="0"/>
                  </a:endParaRPr>
                </a:p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组合 37"/>
              <p:cNvGrpSpPr>
                <a:grpSpLocks/>
              </p:cNvGrpSpPr>
              <p:nvPr/>
            </p:nvGrpSpPr>
            <p:grpSpPr bwMode="auto">
              <a:xfrm>
                <a:off x="7000892" y="5883370"/>
                <a:ext cx="1643074" cy="831778"/>
                <a:chOff x="7143768" y="5954808"/>
                <a:chExt cx="1643074" cy="831778"/>
              </a:xfrm>
            </p:grpSpPr>
            <p:sp>
              <p:nvSpPr>
                <p:cNvPr id="21" name="TextBox 20"/>
                <p:cNvSpPr txBox="1"/>
                <p:nvPr/>
              </p:nvSpPr>
              <p:spPr>
                <a:xfrm>
                  <a:off x="7144494" y="5954942"/>
                  <a:ext cx="1642348" cy="831644"/>
                </a:xfrm>
                <a:prstGeom prst="rect">
                  <a:avLst/>
                </a:prstGeom>
                <a:noFill/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2800" b="1" dirty="0">
                    <a:latin typeface="Century Gothic" pitchFamily="34" charset="0"/>
                    <a:ea typeface="+mn-ea"/>
                    <a:cs typeface="Times New Roman" pitchFamily="18" charset="0"/>
                  </a:endParaRPr>
                </a:p>
              </p:txBody>
            </p:sp>
            <p:sp>
              <p:nvSpPr>
                <p:cNvPr id="22" name="椭圆 21"/>
                <p:cNvSpPr/>
                <p:nvPr/>
              </p:nvSpPr>
              <p:spPr>
                <a:xfrm>
                  <a:off x="7274406" y="6071564"/>
                  <a:ext cx="1297519" cy="57163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b="1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RoHS</a:t>
                  </a:r>
                  <a:endParaRPr lang="zh-CN" altLang="en-US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1"/>
          <p:cNvSpPr>
            <a:spLocks noGrp="1"/>
          </p:cNvSpPr>
          <p:nvPr>
            <p:ph type="title"/>
          </p:nvPr>
        </p:nvSpPr>
        <p:spPr>
          <a:xfrm>
            <a:off x="0" y="1628775"/>
            <a:ext cx="8964613" cy="647700"/>
          </a:xfrm>
        </p:spPr>
        <p:txBody>
          <a:bodyPr/>
          <a:lstStyle/>
          <a:p>
            <a:pPr algn="ctr" eaLnBrk="1" hangingPunct="1"/>
            <a:r>
              <a:rPr lang="en-US" altLang="zh-CN" sz="2800" b="1" smtClean="0">
                <a:solidFill>
                  <a:srgbClr val="0000FF"/>
                </a:solidFill>
                <a:latin typeface="Arial" charset="0"/>
              </a:rPr>
              <a:t>II</a:t>
            </a:r>
            <a:r>
              <a:rPr lang="zh-CN" altLang="en-US" sz="28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、</a:t>
            </a:r>
            <a:r>
              <a:rPr lang="en-US" altLang="zh-CN" sz="28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Lithium-ion polymer cell Character &amp; Performance</a:t>
            </a:r>
            <a:br>
              <a:rPr lang="en-US" altLang="zh-CN" sz="28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</a:br>
            <a:endParaRPr lang="zh-CN" altLang="en-US" sz="2800" b="1" smtClean="0">
              <a:solidFill>
                <a:srgbClr val="0000FF"/>
              </a:solidFill>
              <a:latin typeface="Arial" charset="0"/>
              <a:ea typeface="楷体"/>
              <a:cs typeface="楷体"/>
            </a:endParaRPr>
          </a:p>
        </p:txBody>
      </p:sp>
      <p:pic>
        <p:nvPicPr>
          <p:cNvPr id="5837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6013" y="2492375"/>
            <a:ext cx="6840537" cy="3313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1"/>
          <p:cNvSpPr txBox="1">
            <a:spLocks/>
          </p:cNvSpPr>
          <p:nvPr/>
        </p:nvSpPr>
        <p:spPr bwMode="auto">
          <a:xfrm>
            <a:off x="350838" y="476250"/>
            <a:ext cx="8229600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bIns="0" anchor="b"/>
          <a:lstStyle/>
          <a:p>
            <a:pPr marL="571500" indent="-571500" eaLnBrk="0" hangingPunct="0"/>
            <a:endParaRPr lang="zh-CN" altLang="en-US" sz="2800" b="1">
              <a:solidFill>
                <a:srgbClr val="0000FF"/>
              </a:solidFill>
            </a:endParaRPr>
          </a:p>
        </p:txBody>
      </p:sp>
      <p:sp>
        <p:nvSpPr>
          <p:cNvPr id="59394" name="标题 1"/>
          <p:cNvSpPr txBox="1">
            <a:spLocks/>
          </p:cNvSpPr>
          <p:nvPr/>
        </p:nvSpPr>
        <p:spPr bwMode="auto">
          <a:xfrm>
            <a:off x="468313" y="765175"/>
            <a:ext cx="842486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bIns="0" anchor="b"/>
          <a:lstStyle/>
          <a:p>
            <a:pPr marL="571500" indent="-571500" eaLnBrk="0" hangingPunct="0">
              <a:buFont typeface="Wingdings" pitchFamily="2" charset="2"/>
              <a:buChar char="l"/>
            </a:pPr>
            <a:r>
              <a:rPr lang="en-US" altLang="zh-CN" sz="3200">
                <a:solidFill>
                  <a:srgbClr val="0000FF"/>
                </a:solidFill>
              </a:rPr>
              <a:t>Comparison of different types battery</a:t>
            </a:r>
            <a:r>
              <a:rPr lang="en-US" altLang="zh-CN" sz="2800"/>
              <a:t> </a:t>
            </a:r>
            <a:endParaRPr lang="zh-CN" altLang="en-US" sz="2800"/>
          </a:p>
        </p:txBody>
      </p:sp>
      <p:pic>
        <p:nvPicPr>
          <p:cNvPr id="59395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3" y="1387475"/>
            <a:ext cx="8713787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1"/>
          <p:cNvSpPr txBox="1">
            <a:spLocks/>
          </p:cNvSpPr>
          <p:nvPr/>
        </p:nvSpPr>
        <p:spPr bwMode="auto">
          <a:xfrm>
            <a:off x="323850" y="1052513"/>
            <a:ext cx="8640763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bIns="0" anchor="b"/>
          <a:lstStyle/>
          <a:p>
            <a:pPr marL="571500" indent="-571500" eaLnBrk="0" hangingPunct="0">
              <a:buFont typeface="Wingdings" pitchFamily="2" charset="2"/>
              <a:buNone/>
            </a:pPr>
            <a:endParaRPr lang="zh-CN" altLang="en-US" sz="2700" b="1">
              <a:solidFill>
                <a:srgbClr val="0000FF"/>
              </a:solidFill>
              <a:latin typeface="楷体"/>
              <a:ea typeface="楷体"/>
              <a:cs typeface="楷体"/>
            </a:endParaRPr>
          </a:p>
          <a:p>
            <a:pPr marL="571500" indent="-571500" eaLnBrk="0" hangingPunct="0">
              <a:buFont typeface="Wingdings" pitchFamily="2" charset="2"/>
              <a:buChar char="l"/>
            </a:pPr>
            <a:r>
              <a:rPr lang="en-US" altLang="zh-CN" sz="2400">
                <a:solidFill>
                  <a:srgbClr val="0000FF"/>
                </a:solidFill>
              </a:rPr>
              <a:t>Performance Comparison different Positive electrode</a:t>
            </a:r>
            <a:r>
              <a:rPr lang="en-US" altLang="zh-CN"/>
              <a:t> </a:t>
            </a:r>
          </a:p>
        </p:txBody>
      </p:sp>
      <p:pic>
        <p:nvPicPr>
          <p:cNvPr id="6041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0484" name="Group 68"/>
          <p:cNvGraphicFramePr>
            <a:graphicFrameLocks noGrp="1"/>
          </p:cNvGraphicFramePr>
          <p:nvPr/>
        </p:nvGraphicFramePr>
        <p:xfrm>
          <a:off x="395288" y="2349500"/>
          <a:ext cx="8497887" cy="3591608"/>
        </p:xfrm>
        <a:graphic>
          <a:graphicData uri="http://schemas.openxmlformats.org/drawingml/2006/table">
            <a:tbl>
              <a:tblPr/>
              <a:tblGrid>
                <a:gridCol w="2608262"/>
                <a:gridCol w="1343025"/>
                <a:gridCol w="2162175"/>
                <a:gridCol w="1117600"/>
                <a:gridCol w="1266825"/>
              </a:tblGrid>
              <a:tr h="635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楷体"/>
                        </a:rPr>
                        <a:t>Item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LiFePO4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Li</a:t>
                      </a: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(NiaMnbCoc</a:t>
                      </a: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)O2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LiMn2O4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LiCoO2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楷体"/>
                        </a:rPr>
                        <a:t>Theoretical specific energy 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(mAh/g)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170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&gt;190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148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274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楷体"/>
                        </a:rPr>
                        <a:t>Actual specific energy 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(mAh/g)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130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150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90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145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楷体"/>
                        </a:rPr>
                        <a:t>Discharge platform 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(V)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3.2-3.3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3.6-3.7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3.7-3.8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3.6-3.7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楷体"/>
                        </a:rPr>
                        <a:t>Cycle life 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(times)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"/>
                        <a:cs typeface="Tahoma" pitchFamily="34" charset="0"/>
                      </a:endParaRP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&gt;2000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"/>
                        <a:cs typeface="Tahoma" pitchFamily="34" charset="0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&gt;1000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"/>
                        <a:cs typeface="Tahoma" pitchFamily="34" charset="0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&gt;300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"/>
                        <a:cs typeface="Tahoma" pitchFamily="34" charset="0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&gt;500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"/>
                        <a:cs typeface="Tahoma" pitchFamily="34" charset="0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楷体"/>
                        </a:rPr>
                        <a:t>High temperature performance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(℃)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"/>
                        <a:cs typeface="Tahoma" pitchFamily="34" charset="0"/>
                      </a:endParaRP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&gt;75℃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&gt;65℃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~45℃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~80℃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楷体"/>
                        </a:rPr>
                        <a:t>High rates performance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楷体"/>
                        <a:cs typeface="楷体"/>
                      </a:endParaRP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better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good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bad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"/>
                          <a:cs typeface="Tahoma" pitchFamily="34" charset="0"/>
                        </a:rPr>
                        <a:t>better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/>
          <p:cNvSpPr>
            <a:spLocks noGrp="1"/>
          </p:cNvSpPr>
          <p:nvPr>
            <p:ph type="title" idx="4294967295"/>
          </p:nvPr>
        </p:nvSpPr>
        <p:spPr>
          <a:xfrm>
            <a:off x="323850" y="1438275"/>
            <a:ext cx="8280400" cy="815975"/>
          </a:xfrm>
        </p:spPr>
        <p:txBody>
          <a:bodyPr/>
          <a:lstStyle/>
          <a:p>
            <a:pPr algn="ctr" eaLnBrk="1" hangingPunct="1"/>
            <a:r>
              <a:rPr lang="en-US" altLang="zh-CN" sz="40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III</a:t>
            </a:r>
            <a:r>
              <a:rPr lang="zh-CN" altLang="en-US" sz="40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、</a:t>
            </a:r>
            <a:r>
              <a:rPr lang="en-US" altLang="zh-CN" sz="40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IP Product Introduction</a:t>
            </a:r>
            <a:r>
              <a:rPr lang="zh-CN" altLang="en-US" sz="4200" b="1" smtClean="0">
                <a:latin typeface="Arial" charset="0"/>
                <a:ea typeface="楷体"/>
                <a:cs typeface="楷体"/>
              </a:rPr>
              <a:t/>
            </a:r>
            <a:br>
              <a:rPr lang="zh-CN" altLang="en-US" sz="4200" b="1" smtClean="0">
                <a:latin typeface="Arial" charset="0"/>
                <a:ea typeface="楷体"/>
                <a:cs typeface="楷体"/>
              </a:rPr>
            </a:br>
            <a:endParaRPr lang="zh-CN" altLang="en-US" sz="4200" b="1" smtClean="0">
              <a:latin typeface="Arial" charset="0"/>
              <a:ea typeface="楷体"/>
              <a:cs typeface="楷体"/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9875" y="260350"/>
            <a:ext cx="25241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3" name="Picture 5" descr="IMG_098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3068638"/>
            <a:ext cx="3816350" cy="302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4" name="Picture 6" descr="IMG_097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7538" y="2997200"/>
            <a:ext cx="4176712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/>
          </p:cNvSpPr>
          <p:nvPr>
            <p:ph type="title"/>
          </p:nvPr>
        </p:nvSpPr>
        <p:spPr>
          <a:xfrm>
            <a:off x="827088" y="1370013"/>
            <a:ext cx="7366000" cy="1008062"/>
          </a:xfrm>
        </p:spPr>
        <p:txBody>
          <a:bodyPr/>
          <a:lstStyle/>
          <a:p>
            <a:pPr algn="ctr" eaLnBrk="1" hangingPunct="1"/>
            <a:r>
              <a:rPr lang="zh-CN" altLang="en-US" sz="4400" b="1" smtClean="0">
                <a:latin typeface="楷体"/>
                <a:ea typeface="楷体"/>
                <a:cs typeface="Tahoma" pitchFamily="34" charset="0"/>
              </a:rPr>
              <a:t>  </a:t>
            </a:r>
            <a:r>
              <a:rPr lang="en-US" altLang="zh-CN" sz="3200" b="1" smtClean="0">
                <a:solidFill>
                  <a:srgbClr val="0000FF"/>
                </a:solidFill>
                <a:latin typeface="Arial" charset="0"/>
                <a:ea typeface="楷体"/>
                <a:cs typeface="Tahoma" pitchFamily="34" charset="0"/>
              </a:rPr>
              <a:t>High Rate RC battery introduction</a:t>
            </a:r>
            <a:endParaRPr lang="zh-CN" altLang="en-US" sz="3200" smtClean="0">
              <a:solidFill>
                <a:srgbClr val="0000FF"/>
              </a:solidFill>
              <a:latin typeface="Arial" charset="0"/>
              <a:ea typeface="楷体"/>
              <a:cs typeface="Tahoma" pitchFamily="34" charset="0"/>
            </a:endParaRPr>
          </a:p>
        </p:txBody>
      </p:sp>
      <p:pic>
        <p:nvPicPr>
          <p:cNvPr id="6246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7" name="Picture 12" descr="IMG_099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8925" y="2997200"/>
            <a:ext cx="3995738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8" name="Picture 15" descr="IMG_097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4663" y="2997200"/>
            <a:ext cx="4537075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4"/>
          <p:cNvSpPr txBox="1">
            <a:spLocks noChangeArrowheads="1"/>
          </p:cNvSpPr>
          <p:nvPr/>
        </p:nvSpPr>
        <p:spPr bwMode="auto">
          <a:xfrm>
            <a:off x="611188" y="1700213"/>
            <a:ext cx="77184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altLang="zh-CN" b="1">
              <a:solidFill>
                <a:srgbClr val="FF0000"/>
              </a:solidFill>
              <a:latin typeface="楷体"/>
              <a:ea typeface="楷体"/>
              <a:cs typeface="楷体"/>
            </a:endParaRPr>
          </a:p>
        </p:txBody>
      </p:sp>
      <p:sp>
        <p:nvSpPr>
          <p:cNvPr id="63490" name="Text Box 4"/>
          <p:cNvSpPr txBox="1">
            <a:spLocks noChangeArrowheads="1"/>
          </p:cNvSpPr>
          <p:nvPr/>
        </p:nvSpPr>
        <p:spPr bwMode="auto">
          <a:xfrm>
            <a:off x="438150" y="665163"/>
            <a:ext cx="74771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kumimoji="1" lang="en-US" altLang="zh-CN" sz="2800">
                <a:solidFill>
                  <a:srgbClr val="0000FF"/>
                </a:solidFill>
              </a:rPr>
              <a:t>Unique Technical Structure</a:t>
            </a:r>
          </a:p>
          <a:p>
            <a:pPr marL="457200" indent="-457200"/>
            <a:r>
              <a:rPr kumimoji="1" lang="en-US" altLang="zh-CN" sz="2800">
                <a:solidFill>
                  <a:srgbClr val="0000FF"/>
                </a:solidFill>
              </a:rPr>
              <a:t>        ----</a:t>
            </a:r>
            <a:r>
              <a:rPr kumimoji="1" lang="en-US" altLang="zh-CN" sz="2800" b="1">
                <a:solidFill>
                  <a:srgbClr val="0000FF"/>
                </a:solidFill>
              </a:rPr>
              <a:t>Winding &amp; Stacking</a:t>
            </a:r>
            <a:endParaRPr kumimoji="1" lang="zh-CN" altLang="en-US" sz="2800" b="1">
              <a:solidFill>
                <a:srgbClr val="0000FF"/>
              </a:solidFill>
            </a:endParaRPr>
          </a:p>
        </p:txBody>
      </p:sp>
      <p:pic>
        <p:nvPicPr>
          <p:cNvPr id="63491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2" name="Picture 10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2060575"/>
            <a:ext cx="7129462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611188" y="1628775"/>
            <a:ext cx="80645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66"/>
                </a:solidFill>
              </a:rPr>
              <a:t>Integrate and consolidate advantages of the winding structure and the stacking structure , avoid and </a:t>
            </a:r>
            <a:r>
              <a:rPr lang="zh-CN" altLang="zh-CN">
                <a:solidFill>
                  <a:srgbClr val="FF0066"/>
                </a:solidFill>
              </a:rPr>
              <a:t>reduce the negative factors of both</a:t>
            </a:r>
            <a:endParaRPr lang="en-US" altLang="zh-CN">
              <a:solidFill>
                <a:srgbClr val="FF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7700" y="995363"/>
            <a:ext cx="8027988" cy="712787"/>
          </a:xfrm>
        </p:spPr>
        <p:txBody>
          <a:bodyPr lIns="91440" rIns="91440" bIns="45720"/>
          <a:lstStyle/>
          <a:p>
            <a:pPr eaLnBrk="1" hangingPunct="1"/>
            <a:r>
              <a:rPr lang="en-US" altLang="zh-CN" sz="3600" b="1" smtClean="0">
                <a:solidFill>
                  <a:srgbClr val="0000FF"/>
                </a:solidFill>
                <a:latin typeface="Arial" charset="0"/>
              </a:rPr>
              <a:t>Advantages of IP high rate battery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989138"/>
            <a:ext cx="8229600" cy="3768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kumimoji="1" lang="en-US" altLang="zh-CN" sz="2000" smtClean="0">
                <a:solidFill>
                  <a:srgbClr val="FF0066"/>
                </a:solidFill>
                <a:latin typeface="Arial" charset="0"/>
              </a:rPr>
              <a:t>Unique Technical Structure</a:t>
            </a:r>
            <a:r>
              <a:rPr lang="zh-CN" altLang="en-US" sz="2000" smtClean="0">
                <a:solidFill>
                  <a:srgbClr val="FF0066"/>
                </a:solidFill>
                <a:latin typeface="Arial" charset="0"/>
              </a:rPr>
              <a:t>：</a:t>
            </a:r>
            <a:r>
              <a:rPr kumimoji="1" lang="en-US" altLang="zh-CN" sz="2000" b="1" smtClean="0">
                <a:solidFill>
                  <a:srgbClr val="FF0066"/>
                </a:solidFill>
                <a:latin typeface="Arial" charset="0"/>
              </a:rPr>
              <a:t>Winding &amp; Stacking</a:t>
            </a:r>
            <a:endParaRPr lang="zh-CN" altLang="en-US" sz="2000" smtClean="0">
              <a:solidFill>
                <a:srgbClr val="FF0066"/>
              </a:solidFill>
              <a:latin typeface="Arial" charset="0"/>
            </a:endParaRPr>
          </a:p>
          <a:p>
            <a:pPr>
              <a:lnSpc>
                <a:spcPct val="80000"/>
              </a:lnSpc>
            </a:pPr>
            <a:endParaRPr lang="en-US" altLang="zh-CN" sz="2000" smtClean="0">
              <a:solidFill>
                <a:srgbClr val="FF0066"/>
              </a:solidFill>
              <a:latin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en-US" altLang="zh-CN" sz="2000" smtClean="0">
                <a:solidFill>
                  <a:srgbClr val="FF0066"/>
                </a:solidFill>
                <a:latin typeface="Arial" charset="0"/>
              </a:rPr>
              <a:t>Integrate and consolidate advantages of the winding structure and the stacking structure ,avoid and </a:t>
            </a:r>
            <a:r>
              <a:rPr lang="zh-CN" altLang="zh-CN" sz="2000" smtClean="0">
                <a:solidFill>
                  <a:srgbClr val="FF0066"/>
                </a:solidFill>
                <a:latin typeface="Arial" charset="0"/>
              </a:rPr>
              <a:t>reduce the negative factors of both</a:t>
            </a:r>
            <a:endParaRPr lang="en-US" altLang="zh-CN" sz="2000" smtClean="0">
              <a:solidFill>
                <a:srgbClr val="FF0066"/>
              </a:solidFill>
              <a:latin typeface="Arial" charset="0"/>
            </a:endParaRPr>
          </a:p>
        </p:txBody>
      </p:sp>
      <p:graphicFrame>
        <p:nvGraphicFramePr>
          <p:cNvPr id="64542" name="Group 30"/>
          <p:cNvGraphicFramePr>
            <a:graphicFrameLocks noGrp="1"/>
          </p:cNvGraphicFramePr>
          <p:nvPr/>
        </p:nvGraphicFramePr>
        <p:xfrm>
          <a:off x="179388" y="3284538"/>
          <a:ext cx="8640762" cy="2956560"/>
        </p:xfrm>
        <a:graphic>
          <a:graphicData uri="http://schemas.openxmlformats.org/drawingml/2006/table">
            <a:tbl>
              <a:tblPr/>
              <a:tblGrid>
                <a:gridCol w="1196975"/>
                <a:gridCol w="2138362"/>
                <a:gridCol w="3267075"/>
                <a:gridCol w="2038350"/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Technical Structure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Advantages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Application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Disadvantages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Stacking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Low internal resistance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（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parallel connection structure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）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High energy density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Stable  high voltage and high power                                    Small volume ,light weight 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High probability of internal short-circuit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Bad consistency 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Winding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Low probability of internal short-circuit Good consistency 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High reliable quality 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；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high yield rate  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High internal resistance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（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series connection structure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）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Energy density is lower than 5%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4537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1341438"/>
            <a:ext cx="7793037" cy="846137"/>
          </a:xfrm>
        </p:spPr>
        <p:txBody>
          <a:bodyPr lIns="91440" rIns="91440" bIns="45720"/>
          <a:lstStyle/>
          <a:p>
            <a:pPr eaLnBrk="1" hangingPunct="1"/>
            <a:r>
              <a:rPr lang="en-US" altLang="zh-CN" sz="4200" b="1" smtClean="0">
                <a:solidFill>
                  <a:srgbClr val="0000FF"/>
                </a:solidFill>
              </a:rPr>
              <a:t>Power character of High Rate battery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325688"/>
            <a:ext cx="8229600" cy="39116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altLang="zh-CN" sz="2200" smtClean="0"/>
              <a:t>High Rate Range: 10C--50C</a:t>
            </a:r>
            <a:endParaRPr lang="en-US" altLang="zh-CN" sz="2200" smtClean="0">
              <a:solidFill>
                <a:srgbClr val="FF0000"/>
              </a:solidFill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zh-CN" sz="700" smtClean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2200" smtClean="0"/>
              <a:t>Typical 40C cell design</a:t>
            </a:r>
            <a:endParaRPr lang="en-US" altLang="zh-CN" sz="700" smtClean="0"/>
          </a:p>
          <a:p>
            <a:pPr eaLnBrk="1" hangingPunct="1">
              <a:buFont typeface="Wingdings" pitchFamily="2" charset="2"/>
              <a:buChar char="l"/>
            </a:pPr>
            <a:r>
              <a:rPr lang="en-US" altLang="zh-CN" sz="2200" smtClean="0"/>
              <a:t>Continuous Discharge </a:t>
            </a:r>
            <a:r>
              <a:rPr lang="zh-CN" altLang="en-US" sz="2200" smtClean="0"/>
              <a:t>：</a:t>
            </a:r>
            <a:r>
              <a:rPr lang="en-US" altLang="zh-CN" sz="2200" smtClean="0"/>
              <a:t>5000Wh/kg and 10000Wh/L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zh-CN" sz="700" smtClean="0"/>
          </a:p>
          <a:p>
            <a:pPr eaLnBrk="1" hangingPunct="1">
              <a:buFont typeface="Wingdings" pitchFamily="2" charset="2"/>
              <a:buChar char="l"/>
            </a:pPr>
            <a:r>
              <a:rPr lang="en-US" altLang="zh-CN" sz="2200" smtClean="0"/>
              <a:t>Pulse Discharge</a:t>
            </a:r>
            <a:r>
              <a:rPr lang="zh-CN" altLang="en-US" sz="2200" smtClean="0"/>
              <a:t>：</a:t>
            </a:r>
            <a:r>
              <a:rPr lang="en-US" altLang="zh-CN" sz="2200" smtClean="0"/>
              <a:t> 8000Wh/kg and 16000Wh/L</a:t>
            </a:r>
          </a:p>
        </p:txBody>
      </p:sp>
      <p:pic>
        <p:nvPicPr>
          <p:cNvPr id="65539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836613"/>
            <a:ext cx="6985000" cy="935037"/>
          </a:xfrm>
        </p:spPr>
        <p:txBody>
          <a:bodyPr lIns="91440" rIns="91440" bIns="45720"/>
          <a:lstStyle/>
          <a:p>
            <a:pPr eaLnBrk="1" hangingPunct="1"/>
            <a:r>
              <a:rPr lang="en-US" altLang="zh-CN" sz="3900" b="1" smtClean="0">
                <a:solidFill>
                  <a:srgbClr val="0000FF"/>
                </a:solidFill>
              </a:rPr>
              <a:t>IP high rate battery character</a:t>
            </a:r>
          </a:p>
        </p:txBody>
      </p:sp>
      <p:pic>
        <p:nvPicPr>
          <p:cNvPr id="66562" name="图片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5025" y="2060575"/>
            <a:ext cx="4319588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3" name="图片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2413" y="2060575"/>
            <a:ext cx="4319587" cy="388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4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58825"/>
            <a:ext cx="8229600" cy="989013"/>
          </a:xfrm>
        </p:spPr>
        <p:txBody>
          <a:bodyPr lIns="91440" rIns="91440" bIns="45720"/>
          <a:lstStyle/>
          <a:p>
            <a:pPr eaLnBrk="1" hangingPunct="1"/>
            <a:r>
              <a:rPr lang="en-US" altLang="zh-CN" sz="3500" b="1" smtClean="0">
                <a:solidFill>
                  <a:srgbClr val="0000FF"/>
                </a:solidFill>
              </a:rPr>
              <a:t>IP high rate battery cycle life character</a:t>
            </a:r>
          </a:p>
        </p:txBody>
      </p:sp>
      <p:pic>
        <p:nvPicPr>
          <p:cNvPr id="67586" name="图片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5700" y="2205038"/>
            <a:ext cx="615315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7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"/>
          <p:cNvSpPr>
            <a:spLocks noGrp="1"/>
          </p:cNvSpPr>
          <p:nvPr>
            <p:ph type="title" idx="4294967295"/>
          </p:nvPr>
        </p:nvSpPr>
        <p:spPr>
          <a:xfrm>
            <a:off x="611188" y="1196975"/>
            <a:ext cx="7366000" cy="935038"/>
          </a:xfrm>
        </p:spPr>
        <p:txBody>
          <a:bodyPr/>
          <a:lstStyle/>
          <a:p>
            <a:pPr algn="ctr" eaLnBrk="1" hangingPunct="1"/>
            <a:r>
              <a:rPr lang="zh-CN" altLang="en-US" sz="4400" smtClean="0">
                <a:solidFill>
                  <a:srgbClr val="0000FF"/>
                </a:solidFill>
                <a:latin typeface="Arial" charset="0"/>
                <a:ea typeface="楷体"/>
                <a:cs typeface="Tahoma" pitchFamily="34" charset="0"/>
              </a:rPr>
              <a:t> </a:t>
            </a:r>
            <a:r>
              <a:rPr lang="en-US" altLang="zh-CN" sz="2800" b="1" smtClean="0">
                <a:solidFill>
                  <a:srgbClr val="0000FF"/>
                </a:solidFill>
                <a:latin typeface="Arial" charset="0"/>
                <a:ea typeface="楷体"/>
                <a:cs typeface="Tahoma" pitchFamily="34" charset="0"/>
              </a:rPr>
              <a:t>IP LiFePO4 Power Battery Introduction</a:t>
            </a:r>
            <a:endParaRPr lang="zh-CN" altLang="en-US" sz="2800" b="1" smtClean="0">
              <a:solidFill>
                <a:srgbClr val="0000FF"/>
              </a:solidFill>
              <a:latin typeface="Arial" charset="0"/>
              <a:ea typeface="楷体"/>
              <a:cs typeface="Tahoma" pitchFamily="34" charset="0"/>
            </a:endParaRPr>
          </a:p>
        </p:txBody>
      </p:sp>
      <p:pic>
        <p:nvPicPr>
          <p:cNvPr id="6861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6463" y="2852738"/>
            <a:ext cx="3529012" cy="303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2" name="Picture 7" descr="MB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188" y="2924175"/>
            <a:ext cx="3816350" cy="309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标题 1"/>
          <p:cNvSpPr>
            <a:spLocks noGrp="1"/>
          </p:cNvSpPr>
          <p:nvPr>
            <p:ph type="title" idx="4294967295"/>
          </p:nvPr>
        </p:nvSpPr>
        <p:spPr>
          <a:xfrm>
            <a:off x="179388" y="981075"/>
            <a:ext cx="8640762" cy="923925"/>
          </a:xfrm>
        </p:spPr>
        <p:txBody>
          <a:bodyPr lIns="91440" rIns="91440" bIns="45720" anchor="ctr"/>
          <a:lstStyle/>
          <a:p>
            <a:r>
              <a:rPr lang="en-US" altLang="zh-CN" sz="3500" b="1" smtClean="0">
                <a:solidFill>
                  <a:srgbClr val="0000FF"/>
                </a:solidFill>
                <a:latin typeface="Arial" charset="0"/>
              </a:rPr>
              <a:t>Features of IP LiFePO4 Power Battery</a:t>
            </a:r>
            <a:endParaRPr lang="zh-CN" altLang="en-US" sz="3500" b="1" smtClean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69634" name="内容占位符 2"/>
          <p:cNvSpPr>
            <a:spLocks noGrp="1"/>
          </p:cNvSpPr>
          <p:nvPr>
            <p:ph idx="4294967295"/>
          </p:nvPr>
        </p:nvSpPr>
        <p:spPr>
          <a:xfrm>
            <a:off x="468313" y="2046288"/>
            <a:ext cx="7747000" cy="3398837"/>
          </a:xfrm>
        </p:spPr>
        <p:txBody>
          <a:bodyPr/>
          <a:lstStyle/>
          <a:p>
            <a:pPr>
              <a:buClr>
                <a:srgbClr val="9BBB59"/>
              </a:buClr>
              <a:buFont typeface="Wingdings 2" pitchFamily="18" charset="2"/>
              <a:buNone/>
            </a:pPr>
            <a:endParaRPr lang="en-US" altLang="zh-CN" smtClean="0"/>
          </a:p>
          <a:p>
            <a:pPr>
              <a:buClr>
                <a:srgbClr val="9BBB59"/>
              </a:buClr>
              <a:buFont typeface="Wingdings" pitchFamily="2" charset="2"/>
              <a:buChar char="Ø"/>
            </a:pPr>
            <a:r>
              <a:rPr lang="zh-CN" altLang="en-US" sz="2800" smtClean="0">
                <a:solidFill>
                  <a:schemeClr val="accent1"/>
                </a:solidFill>
                <a:latin typeface="Arial" charset="0"/>
              </a:rPr>
              <a:t> </a:t>
            </a:r>
            <a:r>
              <a:rPr lang="en-US" altLang="zh-CN" sz="2800" smtClean="0">
                <a:solidFill>
                  <a:schemeClr val="accent1"/>
                </a:solidFill>
                <a:latin typeface="Arial" charset="0"/>
              </a:rPr>
              <a:t>Long Cycle Life</a:t>
            </a:r>
          </a:p>
          <a:p>
            <a:pPr>
              <a:buClr>
                <a:srgbClr val="9BBB59"/>
              </a:buClr>
              <a:buFont typeface="Wingdings" pitchFamily="2" charset="2"/>
              <a:buChar char="Ø"/>
            </a:pPr>
            <a:r>
              <a:rPr lang="zh-CN" altLang="en-US" sz="2800" smtClean="0">
                <a:solidFill>
                  <a:schemeClr val="accent1"/>
                </a:solidFill>
                <a:latin typeface="Arial" charset="0"/>
              </a:rPr>
              <a:t> </a:t>
            </a:r>
            <a:r>
              <a:rPr lang="en-US" altLang="zh-CN" sz="2800" smtClean="0">
                <a:solidFill>
                  <a:schemeClr val="accent1"/>
                </a:solidFill>
                <a:latin typeface="Arial" charset="0"/>
              </a:rPr>
              <a:t>O</a:t>
            </a:r>
            <a:r>
              <a:rPr lang="zh-CN" altLang="zh-CN" sz="2800" smtClean="0">
                <a:solidFill>
                  <a:schemeClr val="accent1"/>
                </a:solidFill>
                <a:latin typeface="Arial" charset="0"/>
              </a:rPr>
              <a:t>utstanding</a:t>
            </a:r>
            <a:r>
              <a:rPr lang="zh-CN" altLang="en-US" sz="2800" smtClean="0">
                <a:solidFill>
                  <a:schemeClr val="accent1"/>
                </a:solidFill>
                <a:latin typeface="Arial" charset="0"/>
              </a:rPr>
              <a:t> </a:t>
            </a:r>
            <a:r>
              <a:rPr lang="en-US" altLang="zh-CN" sz="2800" smtClean="0">
                <a:solidFill>
                  <a:schemeClr val="accent1"/>
                </a:solidFill>
                <a:latin typeface="Arial" charset="0"/>
              </a:rPr>
              <a:t>rated discharge performance</a:t>
            </a:r>
          </a:p>
          <a:p>
            <a:pPr>
              <a:buClr>
                <a:srgbClr val="9BBB59"/>
              </a:buClr>
              <a:buFont typeface="Wingdings" pitchFamily="2" charset="2"/>
              <a:buChar char="Ø"/>
            </a:pPr>
            <a:r>
              <a:rPr lang="en-US" altLang="zh-CN" sz="2800" smtClean="0">
                <a:solidFill>
                  <a:schemeClr val="accent1"/>
                </a:solidFill>
                <a:latin typeface="Arial" charset="0"/>
              </a:rPr>
              <a:t> Excellent low temperature performance</a:t>
            </a:r>
          </a:p>
          <a:p>
            <a:pPr>
              <a:buClr>
                <a:srgbClr val="9BBB59"/>
              </a:buClr>
              <a:buFont typeface="Wingdings 2" pitchFamily="18" charset="2"/>
              <a:buNone/>
            </a:pPr>
            <a:endParaRPr lang="en-US" altLang="zh-CN" sz="2800" smtClean="0">
              <a:solidFill>
                <a:schemeClr val="accent1"/>
              </a:solidFill>
              <a:latin typeface="Arial" charset="0"/>
            </a:endParaRPr>
          </a:p>
          <a:p>
            <a:pPr>
              <a:buClr>
                <a:srgbClr val="9BBB59"/>
              </a:buClr>
              <a:buFont typeface="Wingdings 2" pitchFamily="18" charset="2"/>
              <a:buNone/>
            </a:pPr>
            <a:endParaRPr lang="zh-CN" altLang="en-US" smtClean="0"/>
          </a:p>
        </p:txBody>
      </p:sp>
      <p:pic>
        <p:nvPicPr>
          <p:cNvPr id="69635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标题 1"/>
          <p:cNvSpPr>
            <a:spLocks noGrp="1"/>
          </p:cNvSpPr>
          <p:nvPr>
            <p:ph type="title" idx="4294967295"/>
          </p:nvPr>
        </p:nvSpPr>
        <p:spPr>
          <a:xfrm>
            <a:off x="468313" y="620713"/>
            <a:ext cx="4824412" cy="936625"/>
          </a:xfrm>
        </p:spPr>
        <p:txBody>
          <a:bodyPr lIns="91440" rIns="91440" bIns="45720" anchor="ctr"/>
          <a:lstStyle/>
          <a:p>
            <a:r>
              <a:rPr lang="en-US" altLang="zh-CN" sz="2800" b="1" smtClean="0">
                <a:solidFill>
                  <a:srgbClr val="0000FF"/>
                </a:solidFill>
                <a:latin typeface="Arial" charset="0"/>
              </a:rPr>
              <a:t>Typical Charging Curve</a:t>
            </a:r>
            <a:endParaRPr lang="zh-CN" altLang="en-US" sz="2800" b="1" smtClean="0">
              <a:solidFill>
                <a:srgbClr val="0000FF"/>
              </a:solidFill>
              <a:latin typeface="Arial" charset="0"/>
            </a:endParaRPr>
          </a:p>
        </p:txBody>
      </p:sp>
      <p:pic>
        <p:nvPicPr>
          <p:cNvPr id="70658" name="图片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827088" y="1857375"/>
            <a:ext cx="7416800" cy="4392613"/>
          </a:xfrm>
        </p:spPr>
      </p:pic>
      <p:pic>
        <p:nvPicPr>
          <p:cNvPr id="70659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标题 1"/>
          <p:cNvSpPr>
            <a:spLocks noGrp="1"/>
          </p:cNvSpPr>
          <p:nvPr>
            <p:ph type="title" idx="4294967295"/>
          </p:nvPr>
        </p:nvSpPr>
        <p:spPr>
          <a:xfrm>
            <a:off x="611188" y="692150"/>
            <a:ext cx="7416800" cy="1008063"/>
          </a:xfrm>
        </p:spPr>
        <p:txBody>
          <a:bodyPr lIns="91440" rIns="91440" bIns="45720" anchor="ctr"/>
          <a:lstStyle/>
          <a:p>
            <a:r>
              <a:rPr lang="en-US" altLang="zh-CN" sz="2800" b="1" smtClean="0">
                <a:solidFill>
                  <a:srgbClr val="0000FF"/>
                </a:solidFill>
                <a:latin typeface="Arial" charset="0"/>
              </a:rPr>
              <a:t>Typical Rated Discharging Curve</a:t>
            </a:r>
            <a:r>
              <a:rPr lang="en-US" altLang="zh-CN" smtClean="0"/>
              <a:t> </a:t>
            </a:r>
            <a:endParaRPr lang="zh-CN" altLang="en-US" smtClean="0"/>
          </a:p>
        </p:txBody>
      </p:sp>
      <p:pic>
        <p:nvPicPr>
          <p:cNvPr id="71682" name="图片 1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857250" y="1928813"/>
            <a:ext cx="7416800" cy="4595812"/>
          </a:xfrm>
        </p:spPr>
      </p:pic>
      <p:pic>
        <p:nvPicPr>
          <p:cNvPr id="71683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"/>
          <p:cNvSpPr>
            <a:spLocks noGrp="1"/>
          </p:cNvSpPr>
          <p:nvPr>
            <p:ph type="title" idx="4294967295"/>
          </p:nvPr>
        </p:nvSpPr>
        <p:spPr>
          <a:xfrm>
            <a:off x="395288" y="692150"/>
            <a:ext cx="7859712" cy="923925"/>
          </a:xfrm>
        </p:spPr>
        <p:txBody>
          <a:bodyPr lIns="91440" rIns="91440" bIns="45720" anchor="ctr"/>
          <a:lstStyle/>
          <a:p>
            <a:r>
              <a:rPr lang="en-US" altLang="zh-CN" sz="2800" smtClean="0">
                <a:solidFill>
                  <a:srgbClr val="0000FF"/>
                </a:solidFill>
                <a:latin typeface="Arial" charset="0"/>
              </a:rPr>
              <a:t>Excellent low temperature performance</a:t>
            </a:r>
          </a:p>
        </p:txBody>
      </p:sp>
      <p:pic>
        <p:nvPicPr>
          <p:cNvPr id="72706" name="图片 1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539750" y="1557338"/>
            <a:ext cx="8064500" cy="4824412"/>
          </a:xfrm>
        </p:spPr>
      </p:pic>
      <p:pic>
        <p:nvPicPr>
          <p:cNvPr id="72707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4"/>
          <p:cNvSpPr>
            <a:spLocks noGrp="1"/>
          </p:cNvSpPr>
          <p:nvPr>
            <p:ph type="title" idx="4294967295"/>
          </p:nvPr>
        </p:nvSpPr>
        <p:spPr>
          <a:xfrm>
            <a:off x="395288" y="908050"/>
            <a:ext cx="8064500" cy="852488"/>
          </a:xfrm>
        </p:spPr>
        <p:txBody>
          <a:bodyPr lIns="91440" rIns="91440" bIns="45720" anchor="ctr"/>
          <a:lstStyle/>
          <a:p>
            <a:r>
              <a:rPr lang="en-US" altLang="zh-CN" sz="2800" smtClean="0">
                <a:solidFill>
                  <a:srgbClr val="0000FF"/>
                </a:solidFill>
                <a:latin typeface="Arial" charset="0"/>
              </a:rPr>
              <a:t>Comparison under different Temperatures at different Rates</a:t>
            </a:r>
            <a:endParaRPr lang="zh-CN" altLang="en-US" sz="2800" smtClean="0">
              <a:solidFill>
                <a:srgbClr val="0000FF"/>
              </a:solidFill>
              <a:latin typeface="Arial" charset="0"/>
            </a:endParaRPr>
          </a:p>
        </p:txBody>
      </p:sp>
      <p:pic>
        <p:nvPicPr>
          <p:cNvPr id="73730" name="图片 1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1989138"/>
            <a:ext cx="4038600" cy="3521075"/>
          </a:xfrm>
        </p:spPr>
      </p:pic>
      <p:pic>
        <p:nvPicPr>
          <p:cNvPr id="73731" name="图片 1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4648200" y="1989138"/>
            <a:ext cx="4038600" cy="3521075"/>
          </a:xfrm>
        </p:spPr>
      </p:pic>
      <p:sp>
        <p:nvSpPr>
          <p:cNvPr id="8" name="矩形 7"/>
          <p:cNvSpPr/>
          <p:nvPr/>
        </p:nvSpPr>
        <p:spPr>
          <a:xfrm>
            <a:off x="755650" y="5661025"/>
            <a:ext cx="7848600" cy="576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>
                <a:solidFill>
                  <a:srgbClr val="FF0000"/>
                </a:solidFill>
                <a:latin typeface="Arial" charset="0"/>
              </a:rPr>
              <a:t>Even at low Temperature, IP battery is still strong powerful</a:t>
            </a:r>
            <a:r>
              <a:rPr lang="zh-CN" altLang="en-US" sz="280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！</a:t>
            </a:r>
          </a:p>
        </p:txBody>
      </p:sp>
      <p:pic>
        <p:nvPicPr>
          <p:cNvPr id="73733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6325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/>
          <p:cNvSpPr>
            <a:spLocks noGrp="1"/>
          </p:cNvSpPr>
          <p:nvPr>
            <p:ph type="title" idx="4294967295"/>
          </p:nvPr>
        </p:nvSpPr>
        <p:spPr>
          <a:xfrm>
            <a:off x="179388" y="1125538"/>
            <a:ext cx="8572500" cy="792162"/>
          </a:xfrm>
        </p:spPr>
        <p:txBody>
          <a:bodyPr lIns="91440" rIns="91440" bIns="45720" anchor="ctr"/>
          <a:lstStyle/>
          <a:p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Single cell charge-discharge at 1C Cycle Performance</a:t>
            </a:r>
            <a:r>
              <a:rPr lang="zh-CN" altLang="en-US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＞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1500 times</a:t>
            </a:r>
            <a:r>
              <a:rPr lang="zh-CN" altLang="en-US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(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</a:rPr>
              <a:t>room temperate </a:t>
            </a:r>
            <a:r>
              <a:rPr kumimoji="1" lang="en-US" altLang="zh-CN" sz="2800" smtClean="0">
                <a:solidFill>
                  <a:srgbClr val="0000FF"/>
                </a:solidFill>
                <a:latin typeface="Arial" charset="0"/>
              </a:rPr>
              <a:t>)</a:t>
            </a:r>
            <a:endParaRPr kumimoji="1" lang="zh-CN" altLang="en-US" sz="2800" smtClean="0">
              <a:solidFill>
                <a:srgbClr val="0000FF"/>
              </a:solidFill>
              <a:latin typeface="Arial" charset="0"/>
            </a:endParaRPr>
          </a:p>
        </p:txBody>
      </p:sp>
      <p:pic>
        <p:nvPicPr>
          <p:cNvPr id="7475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611188" y="2190750"/>
            <a:ext cx="7848600" cy="4032250"/>
          </a:xfrm>
        </p:spPr>
      </p:pic>
      <p:pic>
        <p:nvPicPr>
          <p:cNvPr id="74755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20796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1"/>
          <p:cNvSpPr>
            <a:spLocks noGrp="1"/>
          </p:cNvSpPr>
          <p:nvPr>
            <p:ph type="title" idx="4294967295"/>
          </p:nvPr>
        </p:nvSpPr>
        <p:spPr>
          <a:xfrm>
            <a:off x="250825" y="836613"/>
            <a:ext cx="8075613" cy="852487"/>
          </a:xfrm>
        </p:spPr>
        <p:txBody>
          <a:bodyPr lIns="91440" rIns="91440" bIns="45720" anchor="ctr"/>
          <a:lstStyle/>
          <a:p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Single cell charge-discharge at 1C Cycle Performance</a:t>
            </a:r>
            <a:r>
              <a:rPr lang="zh-CN" altLang="en-US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＞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500 times</a:t>
            </a:r>
            <a:r>
              <a:rPr lang="zh-CN" altLang="en-US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(55℃</a:t>
            </a:r>
            <a:r>
              <a:rPr kumimoji="1" lang="en-US" altLang="zh-CN" sz="2800" smtClean="0">
                <a:solidFill>
                  <a:srgbClr val="0000FF"/>
                </a:solidFill>
                <a:latin typeface="Arial" charset="0"/>
              </a:rPr>
              <a:t>)</a:t>
            </a:r>
            <a:endParaRPr kumimoji="1" lang="zh-CN" altLang="en-US" sz="2800" smtClean="0">
              <a:solidFill>
                <a:srgbClr val="0000FF"/>
              </a:solidFill>
              <a:latin typeface="Arial" charset="0"/>
            </a:endParaRPr>
          </a:p>
        </p:txBody>
      </p:sp>
      <p:pic>
        <p:nvPicPr>
          <p:cNvPr id="75778" name="图片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8" y="1928813"/>
            <a:ext cx="7673975" cy="409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79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"/>
          <p:cNvSpPr>
            <a:spLocks noGrp="1"/>
          </p:cNvSpPr>
          <p:nvPr>
            <p:ph type="title" idx="4294967295"/>
          </p:nvPr>
        </p:nvSpPr>
        <p:spPr>
          <a:xfrm>
            <a:off x="71438" y="1052513"/>
            <a:ext cx="8532812" cy="795337"/>
          </a:xfrm>
        </p:spPr>
        <p:txBody>
          <a:bodyPr lIns="91440" rIns="91440" bIns="45720" anchor="ctr"/>
          <a:lstStyle/>
          <a:p>
            <a:r>
              <a:rPr lang="zh-CN" altLang="en-US" sz="3000" b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12S battery pack discharge at 1C Cycle Performance</a:t>
            </a:r>
            <a:r>
              <a:rPr lang="zh-CN" altLang="en-US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＞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1500 times</a:t>
            </a:r>
            <a:r>
              <a:rPr lang="zh-CN" altLang="en-US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(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</a:rPr>
              <a:t>room temperate </a:t>
            </a:r>
            <a:r>
              <a:rPr kumimoji="1" lang="en-US" altLang="zh-CN" sz="2800" smtClean="0">
                <a:solidFill>
                  <a:srgbClr val="0000FF"/>
                </a:solidFill>
                <a:latin typeface="Arial" charset="0"/>
              </a:rPr>
              <a:t>)</a:t>
            </a:r>
            <a:endParaRPr kumimoji="1" lang="zh-CN" altLang="en-US" sz="2800" smtClean="0">
              <a:solidFill>
                <a:srgbClr val="0000FF"/>
              </a:solidFill>
              <a:latin typeface="Arial" charset="0"/>
            </a:endParaRPr>
          </a:p>
        </p:txBody>
      </p:sp>
      <p:pic>
        <p:nvPicPr>
          <p:cNvPr id="76802" name="内容占位符 4"/>
          <p:cNvPicPr>
            <a:picLocks noGrp="1" noChangeAspect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684213" y="2103438"/>
            <a:ext cx="7632700" cy="4191000"/>
          </a:xfrm>
        </p:spPr>
      </p:pic>
      <p:pic>
        <p:nvPicPr>
          <p:cNvPr id="76803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333375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"/>
          <p:cNvSpPr>
            <a:spLocks noGrp="1"/>
          </p:cNvSpPr>
          <p:nvPr>
            <p:ph type="title" idx="4294967295"/>
          </p:nvPr>
        </p:nvSpPr>
        <p:spPr>
          <a:xfrm>
            <a:off x="250825" y="981075"/>
            <a:ext cx="8208963" cy="792163"/>
          </a:xfrm>
        </p:spPr>
        <p:txBody>
          <a:bodyPr/>
          <a:lstStyle/>
          <a:p>
            <a:pPr algn="ctr" eaLnBrk="1" hangingPunct="1"/>
            <a:r>
              <a:rPr lang="zh-CN" altLang="en-US" sz="3200" b="1" smtClean="0">
                <a:latin typeface="楷体"/>
                <a:ea typeface="楷体"/>
                <a:cs typeface="Tahoma" pitchFamily="34" charset="0"/>
              </a:rPr>
              <a:t> </a:t>
            </a:r>
            <a:r>
              <a:rPr lang="en-US" altLang="zh-CN" sz="3200" b="1" smtClean="0">
                <a:solidFill>
                  <a:srgbClr val="0000FF"/>
                </a:solidFill>
                <a:latin typeface="Arial" charset="0"/>
                <a:ea typeface="楷体_GB2312" pitchFamily="49" charset="-122"/>
                <a:cs typeface="Tahoma" pitchFamily="34" charset="0"/>
              </a:rPr>
              <a:t>Li-NMC Power battery Introduction</a:t>
            </a:r>
            <a:endParaRPr lang="zh-CN" altLang="en-US" sz="3200" b="1" smtClean="0">
              <a:solidFill>
                <a:srgbClr val="0000FF"/>
              </a:solidFill>
              <a:latin typeface="楷体"/>
              <a:ea typeface="楷体"/>
              <a:cs typeface="Tahoma" pitchFamily="34" charset="0"/>
            </a:endParaRPr>
          </a:p>
        </p:txBody>
      </p:sp>
      <p:pic>
        <p:nvPicPr>
          <p:cNvPr id="7782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7" name="Picture 2" descr="F:\文员部门工作\临时文件\完善\IP动力电池宣传PPT\图形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39975" y="2420938"/>
            <a:ext cx="4103688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49" name="内容占位符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3600" y="1052513"/>
            <a:ext cx="4002088" cy="241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0" name="Text Box 4"/>
          <p:cNvSpPr txBox="1">
            <a:spLocks noChangeArrowheads="1"/>
          </p:cNvSpPr>
          <p:nvPr/>
        </p:nvSpPr>
        <p:spPr bwMode="auto">
          <a:xfrm>
            <a:off x="323850" y="549275"/>
            <a:ext cx="6553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0000FF"/>
                </a:solidFill>
              </a:rPr>
              <a:t>Cell Performance curve</a:t>
            </a:r>
          </a:p>
          <a:p>
            <a:pPr>
              <a:spcBef>
                <a:spcPct val="50000"/>
              </a:spcBef>
            </a:pPr>
            <a:endParaRPr kumimoji="1" lang="en-US" altLang="zh-CN" sz="2400" b="1">
              <a:solidFill>
                <a:srgbClr val="0000FF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7885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43663" y="188913"/>
            <a:ext cx="25241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5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1052513"/>
            <a:ext cx="3862387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3" name="Text Box 4"/>
          <p:cNvSpPr txBox="1">
            <a:spLocks noChangeArrowheads="1"/>
          </p:cNvSpPr>
          <p:nvPr/>
        </p:nvSpPr>
        <p:spPr bwMode="auto">
          <a:xfrm>
            <a:off x="1403350" y="3468688"/>
            <a:ext cx="15970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12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Charge curve</a:t>
            </a:r>
          </a:p>
        </p:txBody>
      </p:sp>
      <p:sp>
        <p:nvSpPr>
          <p:cNvPr id="78854" name="Text Box 4"/>
          <p:cNvSpPr txBox="1">
            <a:spLocks noChangeArrowheads="1"/>
          </p:cNvSpPr>
          <p:nvPr/>
        </p:nvSpPr>
        <p:spPr bwMode="auto">
          <a:xfrm>
            <a:off x="5122863" y="3444875"/>
            <a:ext cx="256063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12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Discharge curve</a:t>
            </a:r>
          </a:p>
        </p:txBody>
      </p:sp>
      <p:pic>
        <p:nvPicPr>
          <p:cNvPr id="78855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8313" y="3789363"/>
            <a:ext cx="3816350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6" name="Text Box 4"/>
          <p:cNvSpPr txBox="1">
            <a:spLocks noChangeArrowheads="1"/>
          </p:cNvSpPr>
          <p:nvPr/>
        </p:nvSpPr>
        <p:spPr bwMode="auto">
          <a:xfrm>
            <a:off x="4929188" y="6319838"/>
            <a:ext cx="3168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12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The capacity decrease at app. 0.15% per month</a:t>
            </a:r>
          </a:p>
        </p:txBody>
      </p:sp>
      <p:pic>
        <p:nvPicPr>
          <p:cNvPr id="78857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16463" y="3789363"/>
            <a:ext cx="3959225" cy="2487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858" name="Text Box 4"/>
          <p:cNvSpPr txBox="1">
            <a:spLocks noChangeArrowheads="1"/>
          </p:cNvSpPr>
          <p:nvPr/>
        </p:nvSpPr>
        <p:spPr bwMode="auto">
          <a:xfrm>
            <a:off x="719138" y="6329363"/>
            <a:ext cx="31686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12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            storage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6575" y="4016375"/>
            <a:ext cx="3665538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4" name="Text Box 4"/>
          <p:cNvSpPr txBox="1">
            <a:spLocks noChangeArrowheads="1"/>
          </p:cNvSpPr>
          <p:nvPr/>
        </p:nvSpPr>
        <p:spPr bwMode="auto">
          <a:xfrm>
            <a:off x="395288" y="404813"/>
            <a:ext cx="6553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0000FF"/>
                </a:solidFill>
              </a:rPr>
              <a:t>Cell Performance curve</a:t>
            </a:r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7900" y="4016375"/>
            <a:ext cx="3636963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1042988" y="6176963"/>
            <a:ext cx="23764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2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1C Cycle Performance @55</a:t>
            </a:r>
            <a:r>
              <a:rPr kumimoji="1" lang="en-US" altLang="zh-CN" sz="1200">
                <a:solidFill>
                  <a:srgbClr val="000000"/>
                </a:solidFill>
                <a:latin typeface="宋体" charset="-122"/>
                <a:cs typeface="Tahoma" pitchFamily="34" charset="0"/>
              </a:rPr>
              <a:t>℃</a:t>
            </a:r>
            <a:endParaRPr kumimoji="1" lang="en-US" altLang="zh-CN" sz="120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79877" name="Text Box 4"/>
          <p:cNvSpPr txBox="1">
            <a:spLocks noChangeArrowheads="1"/>
          </p:cNvSpPr>
          <p:nvPr/>
        </p:nvSpPr>
        <p:spPr bwMode="auto">
          <a:xfrm>
            <a:off x="5440363" y="6176963"/>
            <a:ext cx="23764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2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1C Cycle Performance @5</a:t>
            </a:r>
            <a:r>
              <a:rPr kumimoji="1" lang="en-US" altLang="zh-CN" sz="1200">
                <a:solidFill>
                  <a:srgbClr val="000000"/>
                </a:solidFill>
                <a:latin typeface="宋体" charset="-122"/>
                <a:cs typeface="Tahoma" pitchFamily="34" charset="0"/>
              </a:rPr>
              <a:t>℃</a:t>
            </a:r>
            <a:endParaRPr kumimoji="1" lang="en-US" altLang="zh-CN" sz="120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79878" name="Text Box 4"/>
          <p:cNvSpPr txBox="1">
            <a:spLocks noChangeArrowheads="1"/>
          </p:cNvSpPr>
          <p:nvPr/>
        </p:nvSpPr>
        <p:spPr bwMode="auto">
          <a:xfrm>
            <a:off x="5775325" y="3595688"/>
            <a:ext cx="2325688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2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3C Cycle Performance @25</a:t>
            </a:r>
            <a:r>
              <a:rPr kumimoji="1" lang="en-US" altLang="zh-CN" sz="1200">
                <a:solidFill>
                  <a:srgbClr val="000000"/>
                </a:solidFill>
                <a:latin typeface="宋体" charset="-122"/>
                <a:cs typeface="Tahoma" pitchFamily="34" charset="0"/>
              </a:rPr>
              <a:t>℃</a:t>
            </a:r>
            <a:endParaRPr kumimoji="1" lang="en-US" altLang="zh-CN" sz="120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79879" name="内容占位符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73600" y="1077913"/>
            <a:ext cx="3859213" cy="250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80" name="Text Box 4"/>
          <p:cNvSpPr txBox="1">
            <a:spLocks noChangeArrowheads="1"/>
          </p:cNvSpPr>
          <p:nvPr/>
        </p:nvSpPr>
        <p:spPr bwMode="auto">
          <a:xfrm>
            <a:off x="1116013" y="3609975"/>
            <a:ext cx="2376487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2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1C Cycle Performance @25</a:t>
            </a:r>
            <a:r>
              <a:rPr kumimoji="1" lang="en-US" altLang="zh-CN" sz="1200">
                <a:solidFill>
                  <a:srgbClr val="000000"/>
                </a:solidFill>
                <a:latin typeface="宋体" charset="-122"/>
                <a:cs typeface="Tahoma" pitchFamily="34" charset="0"/>
              </a:rPr>
              <a:t>℃c</a:t>
            </a:r>
            <a:endParaRPr kumimoji="1" lang="en-US" altLang="zh-CN" sz="120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79881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5138" y="1052513"/>
            <a:ext cx="3865562" cy="253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82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ext Box 4"/>
          <p:cNvSpPr txBox="1">
            <a:spLocks noChangeArrowheads="1"/>
          </p:cNvSpPr>
          <p:nvPr/>
        </p:nvSpPr>
        <p:spPr bwMode="auto">
          <a:xfrm>
            <a:off x="539750" y="836613"/>
            <a:ext cx="6553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0000FF"/>
                </a:solidFill>
                <a:cs typeface="Tahoma" pitchFamily="34" charset="0"/>
              </a:rPr>
              <a:t>Battery </a:t>
            </a:r>
            <a:r>
              <a:rPr kumimoji="1" lang="en-US" altLang="zh-CN" sz="2800">
                <a:solidFill>
                  <a:srgbClr val="0000FF"/>
                </a:solidFill>
              </a:rPr>
              <a:t>Pack Performance curve</a:t>
            </a: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9875" y="260350"/>
            <a:ext cx="25241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899" name="内容占位符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1557338"/>
            <a:ext cx="4248150" cy="367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00" name="内容占位符 3"/>
          <p:cNvPicPr>
            <a:picLocks noGrp="1" noChangeAspect="1"/>
          </p:cNvPicPr>
          <p:nvPr>
            <p:ph idx="4294967295"/>
          </p:nvPr>
        </p:nvPicPr>
        <p:blipFill>
          <a:blip r:embed="rId4"/>
          <a:srcRect/>
          <a:stretch>
            <a:fillRect/>
          </a:stretch>
        </p:blipFill>
        <p:spPr>
          <a:xfrm>
            <a:off x="4643438" y="1557338"/>
            <a:ext cx="4321175" cy="367188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标题 1"/>
          <p:cNvSpPr>
            <a:spLocks noGrp="1"/>
          </p:cNvSpPr>
          <p:nvPr>
            <p:ph type="title" idx="4294967295"/>
          </p:nvPr>
        </p:nvSpPr>
        <p:spPr>
          <a:xfrm>
            <a:off x="684213" y="1196975"/>
            <a:ext cx="7366000" cy="863600"/>
          </a:xfrm>
        </p:spPr>
        <p:txBody>
          <a:bodyPr/>
          <a:lstStyle/>
          <a:p>
            <a:pPr algn="ctr" eaLnBrk="1" hangingPunct="1"/>
            <a:r>
              <a:rPr lang="en-US" altLang="zh-CN" sz="3200" b="1" smtClean="0">
                <a:solidFill>
                  <a:srgbClr val="0000FF"/>
                </a:solidFill>
                <a:latin typeface="Arial" charset="0"/>
                <a:ea typeface="楷体"/>
                <a:cs typeface="Tahoma" pitchFamily="34" charset="0"/>
              </a:rPr>
              <a:t>High capacity digital cell introduction</a:t>
            </a:r>
            <a:endParaRPr lang="zh-CN" altLang="en-US" sz="3200" smtClean="0">
              <a:solidFill>
                <a:srgbClr val="0000FF"/>
              </a:solidFill>
              <a:latin typeface="Arial" charset="0"/>
              <a:ea typeface="楷体"/>
              <a:cs typeface="Tahoma" pitchFamily="34" charset="0"/>
            </a:endParaRPr>
          </a:p>
        </p:txBody>
      </p:sp>
      <p:pic>
        <p:nvPicPr>
          <p:cNvPr id="8192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3" name="Picture 6" descr="IMG_086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2205038"/>
            <a:ext cx="720090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ext Box 4"/>
          <p:cNvSpPr txBox="1">
            <a:spLocks noChangeArrowheads="1"/>
          </p:cNvSpPr>
          <p:nvPr/>
        </p:nvSpPr>
        <p:spPr bwMode="auto">
          <a:xfrm>
            <a:off x="395288" y="549275"/>
            <a:ext cx="568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0000FF"/>
                </a:solidFill>
              </a:rPr>
              <a:t>Features</a:t>
            </a:r>
            <a:r>
              <a:rPr kumimoji="1" lang="zh-CN" altLang="en-US" sz="2800">
                <a:solidFill>
                  <a:srgbClr val="0000FF"/>
                </a:solidFill>
              </a:rPr>
              <a:t>：</a:t>
            </a:r>
            <a:r>
              <a:rPr kumimoji="1" lang="en-US" altLang="zh-CN" sz="2800">
                <a:solidFill>
                  <a:srgbClr val="0000FF"/>
                </a:solidFill>
              </a:rPr>
              <a:t>High</a:t>
            </a:r>
            <a:r>
              <a:rPr kumimoji="1" lang="zh-CN" altLang="en-US" sz="2800">
                <a:solidFill>
                  <a:srgbClr val="0000FF"/>
                </a:solidFill>
              </a:rPr>
              <a:t>、</a:t>
            </a:r>
            <a:r>
              <a:rPr kumimoji="1" lang="en-US" altLang="zh-CN" sz="2800">
                <a:solidFill>
                  <a:srgbClr val="0000FF"/>
                </a:solidFill>
              </a:rPr>
              <a:t>Hard</a:t>
            </a:r>
            <a:r>
              <a:rPr kumimoji="1" lang="zh-CN" altLang="en-US" sz="2800">
                <a:solidFill>
                  <a:srgbClr val="0000FF"/>
                </a:solidFill>
              </a:rPr>
              <a:t>、</a:t>
            </a:r>
            <a:r>
              <a:rPr kumimoji="1" lang="en-US" altLang="zh-CN" sz="2800">
                <a:solidFill>
                  <a:srgbClr val="0000FF"/>
                </a:solidFill>
              </a:rPr>
              <a:t>Smooth</a:t>
            </a:r>
            <a:r>
              <a:rPr kumimoji="1" lang="en-US" altLang="zh-CN" sz="2800"/>
              <a:t> </a:t>
            </a:r>
          </a:p>
        </p:txBody>
      </p:sp>
      <p:pic>
        <p:nvPicPr>
          <p:cNvPr id="82946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47" name="Text Box 8"/>
          <p:cNvSpPr txBox="1">
            <a:spLocks noChangeArrowheads="1"/>
          </p:cNvSpPr>
          <p:nvPr/>
        </p:nvSpPr>
        <p:spPr bwMode="auto">
          <a:xfrm>
            <a:off x="0" y="1341438"/>
            <a:ext cx="5435600" cy="576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rgbClr val="0000FF"/>
                </a:solidFill>
              </a:rPr>
              <a:t>High</a:t>
            </a:r>
            <a:r>
              <a:rPr lang="en-US" altLang="zh-CN"/>
              <a:t>-</a:t>
            </a:r>
            <a:r>
              <a:rPr lang="en-US" altLang="en-US" sz="1600"/>
              <a:t>High Volumetric Energy</a:t>
            </a:r>
            <a:r>
              <a:rPr lang="en-US" altLang="en-US"/>
              <a:t> </a:t>
            </a:r>
            <a:r>
              <a:rPr lang="en-US" altLang="en-US" sz="1600"/>
              <a:t>Density、High Safety </a:t>
            </a:r>
            <a:endParaRPr lang="en-US" altLang="zh-CN" sz="1600"/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600"/>
              <a:t>        1</a:t>
            </a:r>
            <a:r>
              <a:rPr lang="zh-CN" altLang="en-US" sz="1600"/>
              <a:t>、</a:t>
            </a:r>
            <a:r>
              <a:rPr lang="en-US" altLang="zh-CN" sz="1600"/>
              <a:t>High energy density, high gram capacity, high        safety materials </a:t>
            </a:r>
            <a:br>
              <a:rPr lang="en-US" altLang="zh-CN" sz="1600"/>
            </a:br>
            <a:r>
              <a:rPr lang="en-US" altLang="zh-CN" sz="1600"/>
              <a:t>2</a:t>
            </a:r>
            <a:r>
              <a:rPr lang="zh-CN" altLang="en-US" sz="1600"/>
              <a:t>、</a:t>
            </a:r>
            <a:r>
              <a:rPr lang="en-US" altLang="zh-CN" sz="1600"/>
              <a:t>Highly active substances content formula  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600"/>
              <a:t>        3</a:t>
            </a:r>
            <a:r>
              <a:rPr lang="zh-CN" altLang="en-US" sz="1600"/>
              <a:t>、</a:t>
            </a:r>
            <a:r>
              <a:rPr lang="en-US" altLang="zh-CN" sz="1600"/>
              <a:t>High security structure design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rgbClr val="0000FF"/>
                </a:solidFill>
              </a:rPr>
              <a:t>Hard</a:t>
            </a:r>
            <a:r>
              <a:rPr lang="en-US" altLang="zh-CN"/>
              <a:t>- </a:t>
            </a:r>
            <a:r>
              <a:rPr lang="en-US" altLang="zh-CN" sz="1600"/>
              <a:t>The body of cell is so hard that it can be wrapped directly by sticker instead of the Plastic shell. </a:t>
            </a:r>
          </a:p>
          <a:p>
            <a:pPr marL="457200" indent="-457200"/>
            <a:r>
              <a:rPr lang="en-US" altLang="zh-CN" sz="1600"/>
              <a:t>        </a:t>
            </a:r>
          </a:p>
          <a:p>
            <a:pPr marL="457200" indent="-457200"/>
            <a:r>
              <a:rPr lang="en-US" altLang="zh-CN" sz="1600"/>
              <a:t>         1</a:t>
            </a:r>
            <a:r>
              <a:rPr lang="zh-CN" altLang="en-US" sz="1600"/>
              <a:t>、</a:t>
            </a:r>
            <a:r>
              <a:rPr lang="en-US" altLang="zh-CN" sz="1600"/>
              <a:t>Special Ageing technology</a:t>
            </a:r>
          </a:p>
          <a:p>
            <a:pPr marL="457200" indent="-457200"/>
            <a:r>
              <a:rPr lang="en-US" altLang="zh-CN" sz="1600"/>
              <a:t>         2</a:t>
            </a:r>
            <a:r>
              <a:rPr lang="zh-CN" altLang="en-US" sz="1600"/>
              <a:t>、</a:t>
            </a:r>
            <a:r>
              <a:rPr lang="en-US" altLang="zh-CN" sz="1600"/>
              <a:t>Special  Sealing technology</a:t>
            </a:r>
          </a:p>
          <a:p>
            <a:pPr marL="457200" indent="-457200"/>
            <a:endParaRPr lang="en-US" altLang="zh-CN">
              <a:latin typeface="Calibri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itchFamily="2" charset="2"/>
              <a:buChar char="Ø"/>
            </a:pPr>
            <a:r>
              <a:rPr lang="en-US" altLang="zh-CN">
                <a:solidFill>
                  <a:srgbClr val="0000FF"/>
                </a:solidFill>
              </a:rPr>
              <a:t>Smooth</a:t>
            </a:r>
            <a:r>
              <a:rPr lang="en-US" altLang="zh-CN"/>
              <a:t>-</a:t>
            </a:r>
            <a:r>
              <a:rPr lang="en-US" altLang="zh-CN" sz="1600"/>
              <a:t>The body of cell is smooth as mirror surface</a:t>
            </a:r>
          </a:p>
          <a:p>
            <a:pPr marL="457200" indent="-457200"/>
            <a:r>
              <a:rPr lang="en-US" altLang="zh-CN" sz="1600"/>
              <a:t>         1</a:t>
            </a:r>
            <a:r>
              <a:rPr lang="zh-CN" altLang="en-US" sz="1600"/>
              <a:t>、</a:t>
            </a:r>
            <a:r>
              <a:rPr lang="en-US" altLang="zh-CN" sz="1600"/>
              <a:t>Special winding structure</a:t>
            </a:r>
            <a:br>
              <a:rPr lang="en-US" altLang="zh-CN" sz="1600"/>
            </a:br>
            <a:r>
              <a:rPr lang="en-US" altLang="zh-CN" sz="1600"/>
              <a:t> 2</a:t>
            </a:r>
            <a:r>
              <a:rPr lang="zh-CN" altLang="en-US" sz="1600"/>
              <a:t>、</a:t>
            </a:r>
            <a:r>
              <a:rPr lang="en-US" altLang="zh-CN" sz="1600"/>
              <a:t>Special electrode design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itchFamily="2" charset="2"/>
              <a:buChar char="Ø"/>
            </a:pPr>
            <a:endParaRPr lang="en-US" altLang="zh-CN" sz="1600">
              <a:latin typeface="Calibri" pitchFamily="34" charset="0"/>
            </a:endParaRPr>
          </a:p>
        </p:txBody>
      </p:sp>
      <p:pic>
        <p:nvPicPr>
          <p:cNvPr id="82948" name="Picture 5" descr="复件 47494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80063" y="1268413"/>
            <a:ext cx="33845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49" name="Picture 6" descr="复件 40597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80063" y="3933825"/>
            <a:ext cx="33845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4"/>
          <p:cNvSpPr txBox="1">
            <a:spLocks noChangeArrowheads="1"/>
          </p:cNvSpPr>
          <p:nvPr/>
        </p:nvSpPr>
        <p:spPr bwMode="auto">
          <a:xfrm>
            <a:off x="539750" y="765175"/>
            <a:ext cx="7448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FF"/>
                </a:solidFill>
              </a:rPr>
              <a:t>Energy Density Road Map</a:t>
            </a:r>
          </a:p>
        </p:txBody>
      </p:sp>
      <p:pic>
        <p:nvPicPr>
          <p:cNvPr id="8499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188" y="1557338"/>
            <a:ext cx="6769100" cy="442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6" name="Rectangle 8"/>
          <p:cNvSpPr>
            <a:spLocks noChangeArrowheads="1"/>
          </p:cNvSpPr>
          <p:nvPr/>
        </p:nvSpPr>
        <p:spPr bwMode="auto">
          <a:xfrm>
            <a:off x="4500563" y="6072188"/>
            <a:ext cx="303847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kumimoji="1" lang="en-US" altLang="zh-CN" sz="1200">
                <a:latin typeface="Times New Roman" pitchFamily="18" charset="0"/>
              </a:rPr>
              <a:t>Note: calculated by model of 454261</a:t>
            </a:r>
            <a:endParaRPr kumimoji="1" lang="zh-CN" altLang="zh-CN" sz="240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ext Box 4"/>
          <p:cNvSpPr txBox="1">
            <a:spLocks noChangeArrowheads="1"/>
          </p:cNvSpPr>
          <p:nvPr/>
        </p:nvSpPr>
        <p:spPr bwMode="auto">
          <a:xfrm>
            <a:off x="468313" y="692150"/>
            <a:ext cx="7448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0000FF"/>
                </a:solidFill>
              </a:rPr>
              <a:t>Typical charge-discharge Curve</a:t>
            </a:r>
          </a:p>
        </p:txBody>
      </p:sp>
      <p:pic>
        <p:nvPicPr>
          <p:cNvPr id="87042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43" name="Text Box 8"/>
          <p:cNvSpPr txBox="1">
            <a:spLocks noChangeArrowheads="1"/>
          </p:cNvSpPr>
          <p:nvPr/>
        </p:nvSpPr>
        <p:spPr bwMode="auto">
          <a:xfrm>
            <a:off x="1571625" y="6234113"/>
            <a:ext cx="670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/>
              <a:t>At 0.5C , charged into 90% capacity already only after CC.</a:t>
            </a:r>
          </a:p>
        </p:txBody>
      </p:sp>
      <p:pic>
        <p:nvPicPr>
          <p:cNvPr id="87044" name="图片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7088" y="1557338"/>
            <a:ext cx="7273925" cy="452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ext Box 4"/>
          <p:cNvSpPr txBox="1">
            <a:spLocks noChangeArrowheads="1"/>
          </p:cNvSpPr>
          <p:nvPr/>
        </p:nvSpPr>
        <p:spPr bwMode="auto">
          <a:xfrm>
            <a:off x="323850" y="765175"/>
            <a:ext cx="6264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FF"/>
                </a:solidFill>
              </a:rPr>
              <a:t>Typical Rate Discharging Curve</a:t>
            </a:r>
          </a:p>
        </p:txBody>
      </p:sp>
      <p:pic>
        <p:nvPicPr>
          <p:cNvPr id="89090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1" name="图片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7088" y="1628775"/>
            <a:ext cx="6858000" cy="453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ext Box 4"/>
          <p:cNvSpPr txBox="1">
            <a:spLocks noChangeArrowheads="1"/>
          </p:cNvSpPr>
          <p:nvPr/>
        </p:nvSpPr>
        <p:spPr bwMode="auto">
          <a:xfrm>
            <a:off x="539750" y="836613"/>
            <a:ext cx="7448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</a:rPr>
              <a:t>Low temperature Performance</a:t>
            </a:r>
          </a:p>
        </p:txBody>
      </p:sp>
      <p:pic>
        <p:nvPicPr>
          <p:cNvPr id="9113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333375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39" name="图片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0113" y="1700213"/>
            <a:ext cx="7072312" cy="434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ext Box 4"/>
          <p:cNvSpPr txBox="1">
            <a:spLocks noChangeArrowheads="1"/>
          </p:cNvSpPr>
          <p:nvPr/>
        </p:nvSpPr>
        <p:spPr bwMode="auto">
          <a:xfrm>
            <a:off x="611188" y="836613"/>
            <a:ext cx="7448550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FF"/>
                </a:solidFill>
              </a:rPr>
              <a:t>Cycle life Performance</a:t>
            </a:r>
          </a:p>
          <a:p>
            <a:pPr>
              <a:spcBef>
                <a:spcPct val="50000"/>
              </a:spcBef>
            </a:pPr>
            <a:endParaRPr kumimoji="1" lang="en-US" altLang="zh-CN" sz="3200" b="1">
              <a:solidFill>
                <a:srgbClr val="0000FF"/>
              </a:solidFill>
              <a:latin typeface="Comic Sans MS" pitchFamily="66" charset="0"/>
            </a:endParaRPr>
          </a:p>
        </p:txBody>
      </p:sp>
      <p:pic>
        <p:nvPicPr>
          <p:cNvPr id="93186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187" name="图片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5650" y="1700213"/>
            <a:ext cx="7561263" cy="423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标题 1"/>
          <p:cNvSpPr>
            <a:spLocks noGrp="1"/>
          </p:cNvSpPr>
          <p:nvPr>
            <p:ph type="title" idx="4294967295"/>
          </p:nvPr>
        </p:nvSpPr>
        <p:spPr>
          <a:xfrm>
            <a:off x="323850" y="981075"/>
            <a:ext cx="8229600" cy="1071563"/>
          </a:xfrm>
        </p:spPr>
        <p:txBody>
          <a:bodyPr/>
          <a:lstStyle/>
          <a:p>
            <a:pPr algn="ctr" eaLnBrk="1" hangingPunct="1"/>
            <a:r>
              <a:rPr lang="zh-CN" altLang="en-US" sz="4600" b="1" smtClean="0">
                <a:latin typeface="Arial" charset="0"/>
              </a:rPr>
              <a:t/>
            </a:r>
            <a:br>
              <a:rPr lang="zh-CN" altLang="en-US" sz="4600" b="1" smtClean="0">
                <a:latin typeface="Arial" charset="0"/>
              </a:rPr>
            </a:br>
            <a:r>
              <a:rPr lang="zh-CN" altLang="en-US" sz="4600" b="1" smtClean="0">
                <a:latin typeface="Arial" charset="0"/>
              </a:rPr>
              <a:t/>
            </a:r>
            <a:br>
              <a:rPr lang="zh-CN" altLang="en-US" sz="4600" b="1" smtClean="0">
                <a:latin typeface="Arial" charset="0"/>
              </a:rPr>
            </a:br>
            <a:r>
              <a:rPr lang="en-US" altLang="zh-CN" sz="4600" b="1" smtClean="0">
                <a:solidFill>
                  <a:srgbClr val="0000FF"/>
                </a:solidFill>
                <a:latin typeface="Arial" charset="0"/>
              </a:rPr>
              <a:t>IV</a:t>
            </a:r>
            <a:r>
              <a:rPr lang="zh-CN" altLang="en-US" sz="42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、</a:t>
            </a:r>
            <a:r>
              <a:rPr lang="en-US" altLang="zh-CN" sz="4200" b="1" smtClean="0">
                <a:solidFill>
                  <a:srgbClr val="0000FF"/>
                </a:solidFill>
                <a:latin typeface="Arial" charset="0"/>
                <a:ea typeface="楷体"/>
                <a:cs typeface="楷体"/>
              </a:rPr>
              <a:t>Safety Performance</a:t>
            </a:r>
            <a:r>
              <a:rPr lang="en-US" altLang="zh-CN" sz="4200" b="1" smtClean="0">
                <a:latin typeface="Arial" charset="0"/>
                <a:ea typeface="楷体"/>
                <a:cs typeface="楷体"/>
              </a:rPr>
              <a:t/>
            </a:r>
            <a:br>
              <a:rPr lang="en-US" altLang="zh-CN" sz="4200" b="1" smtClean="0">
                <a:latin typeface="Arial" charset="0"/>
                <a:ea typeface="楷体"/>
                <a:cs typeface="楷体"/>
              </a:rPr>
            </a:br>
            <a:endParaRPr lang="zh-CN" altLang="en-US" sz="4200" b="1" smtClean="0">
              <a:latin typeface="Arial" charset="0"/>
              <a:ea typeface="楷体"/>
              <a:cs typeface="楷体"/>
            </a:endParaRPr>
          </a:p>
        </p:txBody>
      </p:sp>
      <p:pic>
        <p:nvPicPr>
          <p:cNvPr id="9523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5235" name="Picture 6" descr="IMG_083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913" y="2565400"/>
            <a:ext cx="6553200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标题 1"/>
          <p:cNvSpPr>
            <a:spLocks noGrp="1"/>
          </p:cNvSpPr>
          <p:nvPr>
            <p:ph type="title" idx="4294967295"/>
          </p:nvPr>
        </p:nvSpPr>
        <p:spPr>
          <a:xfrm>
            <a:off x="250825" y="958850"/>
            <a:ext cx="8229600" cy="1143000"/>
          </a:xfrm>
        </p:spPr>
        <p:txBody>
          <a:bodyPr lIns="91440" rIns="91440" bIns="45720" anchor="ctr"/>
          <a:lstStyle/>
          <a:p>
            <a:r>
              <a:rPr lang="en-US" altLang="zh-CN" sz="3100" b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Standard Safety Testing Demo</a:t>
            </a:r>
            <a:r>
              <a:rPr lang="zh-CN" altLang="en-US" sz="3100" b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3100" b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LiFePO4)</a:t>
            </a:r>
          </a:p>
        </p:txBody>
      </p:sp>
      <p:sp>
        <p:nvSpPr>
          <p:cNvPr id="96258" name="内容占位符 2"/>
          <p:cNvSpPr>
            <a:spLocks noGrp="1"/>
          </p:cNvSpPr>
          <p:nvPr>
            <p:ph sz="half" idx="4294967295"/>
          </p:nvPr>
        </p:nvSpPr>
        <p:spPr>
          <a:xfrm>
            <a:off x="600075" y="2820988"/>
            <a:ext cx="6615113" cy="2695575"/>
          </a:xfrm>
        </p:spPr>
        <p:txBody>
          <a:bodyPr/>
          <a:lstStyle/>
          <a:p>
            <a:pPr>
              <a:buClr>
                <a:srgbClr val="9BBB59"/>
              </a:buClr>
              <a:buFont typeface="Wingdings" pitchFamily="2" charset="2"/>
              <a:buChar char="Ø"/>
            </a:pPr>
            <a:r>
              <a:rPr lang="en-US" altLang="zh-CN" sz="3100" b="1" smtClean="0">
                <a:solidFill>
                  <a:srgbClr val="0070C0"/>
                </a:solidFill>
                <a:latin typeface="宋体" charset="-122"/>
              </a:rPr>
              <a:t> Nail Test</a:t>
            </a:r>
          </a:p>
          <a:p>
            <a:pPr>
              <a:buClr>
                <a:srgbClr val="9BBB59"/>
              </a:buClr>
              <a:buFont typeface="Wingdings" pitchFamily="2" charset="2"/>
              <a:buChar char="Ø"/>
            </a:pPr>
            <a:r>
              <a:rPr lang="zh-CN" altLang="en-US" sz="3100" b="1" smtClean="0">
                <a:solidFill>
                  <a:srgbClr val="0070C0"/>
                </a:solidFill>
                <a:latin typeface="宋体" charset="-122"/>
              </a:rPr>
              <a:t> </a:t>
            </a:r>
            <a:r>
              <a:rPr lang="en-US" altLang="zh-CN" sz="3100" b="1" smtClean="0">
                <a:solidFill>
                  <a:srgbClr val="0070C0"/>
                </a:solidFill>
                <a:latin typeface="宋体" charset="-122"/>
              </a:rPr>
              <a:t>Short-Circuit</a:t>
            </a:r>
          </a:p>
          <a:p>
            <a:pPr>
              <a:buClr>
                <a:srgbClr val="9BBB59"/>
              </a:buClr>
              <a:buFont typeface="Wingdings" pitchFamily="2" charset="2"/>
              <a:buChar char="Ø"/>
            </a:pPr>
            <a:r>
              <a:rPr lang="zh-CN" altLang="en-US" sz="3100" b="1" smtClean="0">
                <a:solidFill>
                  <a:srgbClr val="0070C0"/>
                </a:solidFill>
                <a:latin typeface="宋体" charset="-122"/>
              </a:rPr>
              <a:t> </a:t>
            </a:r>
            <a:r>
              <a:rPr lang="en-US" altLang="zh-CN" sz="3100" b="1" smtClean="0">
                <a:solidFill>
                  <a:srgbClr val="0070C0"/>
                </a:solidFill>
                <a:latin typeface="宋体" charset="-122"/>
              </a:rPr>
              <a:t>Overcharge </a:t>
            </a:r>
          </a:p>
          <a:p>
            <a:pPr>
              <a:buClr>
                <a:srgbClr val="9BBB59"/>
              </a:buClr>
              <a:buFont typeface="Wingdings 2" pitchFamily="18" charset="2"/>
              <a:buNone/>
            </a:pPr>
            <a:endParaRPr lang="zh-CN" altLang="en-US" sz="2200" smtClean="0"/>
          </a:p>
        </p:txBody>
      </p:sp>
      <p:pic>
        <p:nvPicPr>
          <p:cNvPr id="96259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260350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标题 1"/>
          <p:cNvSpPr>
            <a:spLocks noGrp="1"/>
          </p:cNvSpPr>
          <p:nvPr>
            <p:ph type="title" idx="4294967295"/>
          </p:nvPr>
        </p:nvSpPr>
        <p:spPr>
          <a:xfrm>
            <a:off x="468313" y="836613"/>
            <a:ext cx="8305800" cy="636587"/>
          </a:xfrm>
        </p:spPr>
        <p:txBody>
          <a:bodyPr lIns="91440" rIns="91440" bIns="45720" anchor="ctr"/>
          <a:lstStyle/>
          <a:p>
            <a:r>
              <a:rPr lang="en-US" altLang="zh-CN" sz="310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Nail Test Demo</a:t>
            </a:r>
            <a:r>
              <a:rPr lang="zh-CN" altLang="en-US" sz="3100" smtClean="0">
                <a:solidFill>
                  <a:srgbClr val="0000FF"/>
                </a:solidFill>
              </a:rPr>
              <a:t> </a:t>
            </a:r>
            <a:r>
              <a:rPr lang="en-US" altLang="zh-CN" sz="3100" smtClean="0">
                <a:solidFill>
                  <a:srgbClr val="0000FF"/>
                </a:solidFill>
              </a:rPr>
              <a:t>of IP standard power battery</a:t>
            </a:r>
            <a:r>
              <a:rPr lang="en-US" altLang="zh-CN" sz="3100" smtClean="0"/>
              <a:t/>
            </a:r>
            <a:br>
              <a:rPr lang="en-US" altLang="zh-CN" sz="3100" smtClean="0"/>
            </a:br>
            <a:endParaRPr lang="zh-CN" altLang="en-US" sz="3100" smtClean="0"/>
          </a:p>
        </p:txBody>
      </p:sp>
      <p:pic>
        <p:nvPicPr>
          <p:cNvPr id="97282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7283" name="组合 50"/>
          <p:cNvGrpSpPr>
            <a:grpSpLocks/>
          </p:cNvGrpSpPr>
          <p:nvPr/>
        </p:nvGrpSpPr>
        <p:grpSpPr bwMode="auto">
          <a:xfrm>
            <a:off x="71438" y="1557338"/>
            <a:ext cx="9072562" cy="5135562"/>
            <a:chOff x="71406" y="1537071"/>
            <a:chExt cx="9072594" cy="5136083"/>
          </a:xfrm>
        </p:grpSpPr>
        <p:grpSp>
          <p:nvGrpSpPr>
            <p:cNvPr id="97284" name="组合 40"/>
            <p:cNvGrpSpPr>
              <a:grpSpLocks/>
            </p:cNvGrpSpPr>
            <p:nvPr/>
          </p:nvGrpSpPr>
          <p:grpSpPr bwMode="auto">
            <a:xfrm>
              <a:off x="71406" y="1537071"/>
              <a:ext cx="9001188" cy="2492811"/>
              <a:chOff x="146511" y="1537071"/>
              <a:chExt cx="9001188" cy="2492811"/>
            </a:xfrm>
          </p:grpSpPr>
          <p:grpSp>
            <p:nvGrpSpPr>
              <p:cNvPr id="97298" name="组合 36"/>
              <p:cNvGrpSpPr>
                <a:grpSpLocks/>
              </p:cNvGrpSpPr>
              <p:nvPr/>
            </p:nvGrpSpPr>
            <p:grpSpPr bwMode="auto">
              <a:xfrm>
                <a:off x="146511" y="1571612"/>
                <a:ext cx="2214578" cy="2286016"/>
                <a:chOff x="146511" y="1571612"/>
                <a:chExt cx="2214578" cy="2286016"/>
              </a:xfrm>
            </p:grpSpPr>
            <p:sp>
              <p:nvSpPr>
                <p:cNvPr id="97308" name="TextBox 31"/>
                <p:cNvSpPr txBox="1">
                  <a:spLocks noChangeArrowheads="1"/>
                </p:cNvSpPr>
                <p:nvPr/>
              </p:nvSpPr>
              <p:spPr bwMode="auto">
                <a:xfrm>
                  <a:off x="500034" y="3580629"/>
                  <a:ext cx="1357322" cy="2769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A. Before Testing</a:t>
                  </a:r>
                </a:p>
              </p:txBody>
            </p:sp>
            <p:pic>
              <p:nvPicPr>
                <p:cNvPr id="97309" name="图片 32" descr="SNV33674.JPG"/>
                <p:cNvPicPr>
                  <a:picLocks noChangeAspect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146511" y="1571612"/>
                  <a:ext cx="2214578" cy="2000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97299" name="组合 37"/>
              <p:cNvGrpSpPr>
                <a:grpSpLocks/>
              </p:cNvGrpSpPr>
              <p:nvPr/>
            </p:nvGrpSpPr>
            <p:grpSpPr bwMode="auto">
              <a:xfrm>
                <a:off x="2357422" y="1571612"/>
                <a:ext cx="2357454" cy="2455450"/>
                <a:chOff x="2357422" y="1571612"/>
                <a:chExt cx="2357454" cy="2455450"/>
              </a:xfrm>
            </p:grpSpPr>
            <p:sp>
              <p:nvSpPr>
                <p:cNvPr id="97306" name="TextBox 17"/>
                <p:cNvSpPr txBox="1">
                  <a:spLocks noChangeArrowheads="1"/>
                </p:cNvSpPr>
                <p:nvPr/>
              </p:nvSpPr>
              <p:spPr bwMode="auto">
                <a:xfrm>
                  <a:off x="2357422" y="3569938"/>
                  <a:ext cx="2357454" cy="4571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B.1minute later after Nail Test</a:t>
                  </a:r>
                  <a:r>
                    <a:rPr lang="zh-CN" altLang="en-US" sz="1200">
                      <a:latin typeface="Times New Roman" pitchFamily="18" charset="0"/>
                      <a:cs typeface="Times New Roman" pitchFamily="18" charset="0"/>
                    </a:rPr>
                    <a:t>（</a:t>
                  </a:r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punctured 3 nail rapidly</a:t>
                  </a:r>
                  <a:r>
                    <a:rPr lang="zh-CN" altLang="en-US" sz="1200">
                      <a:latin typeface="Times New Roman" pitchFamily="18" charset="0"/>
                      <a:cs typeface="Times New Roman" pitchFamily="18" charset="0"/>
                    </a:rPr>
                    <a:t>）   </a:t>
                  </a:r>
                </a:p>
              </p:txBody>
            </p:sp>
            <p:pic>
              <p:nvPicPr>
                <p:cNvPr id="97307" name="图片 33" descr="SNV33675.JPG"/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2503965" y="1571612"/>
                  <a:ext cx="2143140" cy="2000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97300" name="组合 38"/>
              <p:cNvGrpSpPr>
                <a:grpSpLocks/>
              </p:cNvGrpSpPr>
              <p:nvPr/>
            </p:nvGrpSpPr>
            <p:grpSpPr bwMode="auto">
              <a:xfrm>
                <a:off x="4789981" y="1573996"/>
                <a:ext cx="2071702" cy="2455853"/>
                <a:chOff x="4789981" y="1573996"/>
                <a:chExt cx="2071702" cy="2455853"/>
              </a:xfrm>
            </p:grpSpPr>
            <p:sp>
              <p:nvSpPr>
                <p:cNvPr id="97304" name="TextBox 19"/>
                <p:cNvSpPr txBox="1">
                  <a:spLocks noChangeArrowheads="1"/>
                </p:cNvSpPr>
                <p:nvPr/>
              </p:nvSpPr>
              <p:spPr bwMode="auto">
                <a:xfrm>
                  <a:off x="5072558" y="3572651"/>
                  <a:ext cx="1500198" cy="4571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C.5 minutes later after Nail Test</a:t>
                  </a:r>
                </a:p>
              </p:txBody>
            </p:sp>
            <p:pic>
              <p:nvPicPr>
                <p:cNvPr id="97305" name="图片 34" descr="SNV33680.JPG"/>
                <p:cNvPicPr>
                  <a:picLocks noChangeAspect="1"/>
                </p:cNvPicPr>
                <p:nvPr/>
              </p:nvPicPr>
              <p:blipFill>
                <a:blip r:embed="rId6"/>
                <a:srcRect/>
                <a:stretch>
                  <a:fillRect/>
                </a:stretch>
              </p:blipFill>
              <p:spPr bwMode="auto">
                <a:xfrm>
                  <a:off x="4789981" y="1573996"/>
                  <a:ext cx="2071702" cy="19978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97301" name="组合 39"/>
              <p:cNvGrpSpPr>
                <a:grpSpLocks/>
              </p:cNvGrpSpPr>
              <p:nvPr/>
            </p:nvGrpSpPr>
            <p:grpSpPr bwMode="auto">
              <a:xfrm>
                <a:off x="7004591" y="1537071"/>
                <a:ext cx="2143108" cy="2492811"/>
                <a:chOff x="7004591" y="1537071"/>
                <a:chExt cx="2143108" cy="2492811"/>
              </a:xfrm>
            </p:grpSpPr>
            <p:sp>
              <p:nvSpPr>
                <p:cNvPr id="97302" name="TextBox 25"/>
                <p:cNvSpPr txBox="1">
                  <a:spLocks noChangeArrowheads="1"/>
                </p:cNvSpPr>
                <p:nvPr/>
              </p:nvSpPr>
              <p:spPr bwMode="auto">
                <a:xfrm>
                  <a:off x="7287164" y="3572602"/>
                  <a:ext cx="1571612" cy="4572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D.10 minutes later after Nail Test</a:t>
                  </a:r>
                </a:p>
              </p:txBody>
            </p:sp>
            <p:pic>
              <p:nvPicPr>
                <p:cNvPr id="97303" name="图片 35" descr="SNV33686.JPG"/>
                <p:cNvPicPr>
                  <a:picLocks noChangeAspect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7004591" y="1537071"/>
                  <a:ext cx="2143108" cy="203480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grpSp>
          <p:nvGrpSpPr>
            <p:cNvPr id="97285" name="组合 49"/>
            <p:cNvGrpSpPr>
              <a:grpSpLocks/>
            </p:cNvGrpSpPr>
            <p:nvPr/>
          </p:nvGrpSpPr>
          <p:grpSpPr bwMode="auto">
            <a:xfrm>
              <a:off x="71406" y="4137089"/>
              <a:ext cx="9072594" cy="2536065"/>
              <a:chOff x="71406" y="4137089"/>
              <a:chExt cx="9072594" cy="2536065"/>
            </a:xfrm>
          </p:grpSpPr>
          <p:grpSp>
            <p:nvGrpSpPr>
              <p:cNvPr id="97286" name="组合 45"/>
              <p:cNvGrpSpPr>
                <a:grpSpLocks/>
              </p:cNvGrpSpPr>
              <p:nvPr/>
            </p:nvGrpSpPr>
            <p:grpSpPr bwMode="auto">
              <a:xfrm>
                <a:off x="71406" y="4141949"/>
                <a:ext cx="2214578" cy="2531156"/>
                <a:chOff x="71406" y="4141949"/>
                <a:chExt cx="2214578" cy="2531156"/>
              </a:xfrm>
            </p:grpSpPr>
            <p:sp>
              <p:nvSpPr>
                <p:cNvPr id="97296" name="TextBox 19"/>
                <p:cNvSpPr txBox="1">
                  <a:spLocks noChangeArrowheads="1"/>
                </p:cNvSpPr>
                <p:nvPr/>
              </p:nvSpPr>
              <p:spPr bwMode="auto">
                <a:xfrm>
                  <a:off x="357158" y="6215782"/>
                  <a:ext cx="1571636" cy="45732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E.30 minutes later after Nail Test</a:t>
                  </a:r>
                </a:p>
              </p:txBody>
            </p:sp>
            <p:pic>
              <p:nvPicPr>
                <p:cNvPr id="97297" name="图片 41" descr="SNV33707.JPG"/>
                <p:cNvPicPr>
                  <a:picLocks noChangeAspect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71406" y="4141949"/>
                  <a:ext cx="2214578" cy="20731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97287" name="组合 46"/>
              <p:cNvGrpSpPr>
                <a:grpSpLocks/>
              </p:cNvGrpSpPr>
              <p:nvPr/>
            </p:nvGrpSpPr>
            <p:grpSpPr bwMode="auto">
              <a:xfrm>
                <a:off x="2428860" y="4137089"/>
                <a:ext cx="2143140" cy="2536023"/>
                <a:chOff x="2428860" y="4137089"/>
                <a:chExt cx="2143140" cy="2536023"/>
              </a:xfrm>
            </p:grpSpPr>
            <p:sp>
              <p:nvSpPr>
                <p:cNvPr id="97294" name="TextBox 17"/>
                <p:cNvSpPr txBox="1">
                  <a:spLocks noChangeArrowheads="1"/>
                </p:cNvSpPr>
                <p:nvPr/>
              </p:nvSpPr>
              <p:spPr bwMode="auto">
                <a:xfrm>
                  <a:off x="2643174" y="6215770"/>
                  <a:ext cx="1714512" cy="4573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F.60 minutes later after Nail Test</a:t>
                  </a:r>
                </a:p>
              </p:txBody>
            </p:sp>
            <p:pic>
              <p:nvPicPr>
                <p:cNvPr id="97295" name="图片 42" descr="SNV33712.JPG"/>
                <p:cNvPicPr>
                  <a:picLocks noChangeAspect="1"/>
                </p:cNvPicPr>
                <p:nvPr/>
              </p:nvPicPr>
              <p:blipFill>
                <a:blip r:embed="rId9"/>
                <a:srcRect/>
                <a:stretch>
                  <a:fillRect/>
                </a:stretch>
              </p:blipFill>
              <p:spPr bwMode="auto">
                <a:xfrm>
                  <a:off x="2428860" y="4137089"/>
                  <a:ext cx="2143140" cy="207799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97288" name="组合 47"/>
              <p:cNvGrpSpPr>
                <a:grpSpLocks/>
              </p:cNvGrpSpPr>
              <p:nvPr/>
            </p:nvGrpSpPr>
            <p:grpSpPr bwMode="auto">
              <a:xfrm>
                <a:off x="4714876" y="4169944"/>
                <a:ext cx="2143140" cy="2499775"/>
                <a:chOff x="4714876" y="4169944"/>
                <a:chExt cx="2143140" cy="2499775"/>
              </a:xfrm>
            </p:grpSpPr>
            <p:sp>
              <p:nvSpPr>
                <p:cNvPr id="97292" name="TextBox 15"/>
                <p:cNvSpPr txBox="1">
                  <a:spLocks noChangeArrowheads="1"/>
                </p:cNvSpPr>
                <p:nvPr/>
              </p:nvSpPr>
              <p:spPr bwMode="auto">
                <a:xfrm>
                  <a:off x="5000628" y="6212327"/>
                  <a:ext cx="1643074" cy="4573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G.120 minutes later after Nail Test</a:t>
                  </a:r>
                </a:p>
              </p:txBody>
            </p:sp>
            <p:pic>
              <p:nvPicPr>
                <p:cNvPr id="97293" name="图片 43" descr="SNV33718.JPG"/>
                <p:cNvPicPr>
                  <a:picLocks noChangeAspect="1"/>
                </p:cNvPicPr>
                <p:nvPr/>
              </p:nvPicPr>
              <p:blipFill>
                <a:blip r:embed="rId10"/>
                <a:srcRect/>
                <a:stretch>
                  <a:fillRect/>
                </a:stretch>
              </p:blipFill>
              <p:spPr bwMode="auto">
                <a:xfrm>
                  <a:off x="4714876" y="4169944"/>
                  <a:ext cx="2143140" cy="204513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grpSp>
            <p:nvGrpSpPr>
              <p:cNvPr id="97289" name="组合 48"/>
              <p:cNvGrpSpPr>
                <a:grpSpLocks/>
              </p:cNvGrpSpPr>
              <p:nvPr/>
            </p:nvGrpSpPr>
            <p:grpSpPr bwMode="auto">
              <a:xfrm>
                <a:off x="7000892" y="4209614"/>
                <a:ext cx="2143108" cy="2463540"/>
                <a:chOff x="7000892" y="4209614"/>
                <a:chExt cx="2143108" cy="2463540"/>
              </a:xfrm>
            </p:grpSpPr>
            <p:sp>
              <p:nvSpPr>
                <p:cNvPr id="97290" name="TextBox 13"/>
                <p:cNvSpPr txBox="1">
                  <a:spLocks noChangeArrowheads="1"/>
                </p:cNvSpPr>
                <p:nvPr/>
              </p:nvSpPr>
              <p:spPr bwMode="auto">
                <a:xfrm>
                  <a:off x="7072329" y="6215707"/>
                  <a:ext cx="2071671" cy="45744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itchFamily="18" charset="0"/>
                      <a:cs typeface="Times New Roman" pitchFamily="18" charset="0"/>
                    </a:rPr>
                    <a:t>H.Finish Nail Test (242 minutes later)</a:t>
                  </a:r>
                  <a:endParaRPr lang="en-US" altLang="zh-CN" sz="1200">
                    <a:latin typeface="Constantia" pitchFamily="18" charset="0"/>
                  </a:endParaRPr>
                </a:p>
              </p:txBody>
            </p:sp>
            <p:pic>
              <p:nvPicPr>
                <p:cNvPr id="97291" name="图片 44" descr="SNV33724.JPG"/>
                <p:cNvPicPr>
                  <a:picLocks noChangeAspect="1"/>
                </p:cNvPicPr>
                <p:nvPr/>
              </p:nvPicPr>
              <p:blipFill>
                <a:blip r:embed="rId11"/>
                <a:srcRect/>
                <a:stretch>
                  <a:fillRect/>
                </a:stretch>
              </p:blipFill>
              <p:spPr bwMode="auto">
                <a:xfrm>
                  <a:off x="7000892" y="4209614"/>
                  <a:ext cx="2071702" cy="20054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标题 1"/>
          <p:cNvSpPr>
            <a:spLocks noGrp="1"/>
          </p:cNvSpPr>
          <p:nvPr>
            <p:ph type="title" idx="4294967295"/>
          </p:nvPr>
        </p:nvSpPr>
        <p:spPr>
          <a:xfrm>
            <a:off x="250825" y="620713"/>
            <a:ext cx="8066088" cy="652462"/>
          </a:xfrm>
        </p:spPr>
        <p:txBody>
          <a:bodyPr lIns="91440" rIns="91440" bIns="45720" anchor="ctr"/>
          <a:lstStyle/>
          <a:p>
            <a:r>
              <a:rPr lang="zh-CN" altLang="en-US" sz="3100" smtClean="0">
                <a:solidFill>
                  <a:srgbClr val="0000FF"/>
                </a:solidFill>
              </a:rPr>
              <a:t> </a:t>
            </a:r>
            <a:r>
              <a:rPr lang="en-US" altLang="zh-CN" sz="2800" smtClean="0">
                <a:solidFill>
                  <a:srgbClr val="0000FF"/>
                </a:solidFill>
                <a:latin typeface="Arial" charset="0"/>
              </a:rPr>
              <a:t>Short-circuit Demo of IP standard power battery</a:t>
            </a:r>
            <a:endParaRPr lang="zh-CN" altLang="en-US" sz="2800" smtClean="0">
              <a:solidFill>
                <a:srgbClr val="0000FF"/>
              </a:solidFill>
              <a:latin typeface="Arial" charset="0"/>
            </a:endParaRPr>
          </a:p>
        </p:txBody>
      </p:sp>
      <p:pic>
        <p:nvPicPr>
          <p:cNvPr id="9933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9331" name="组合 27"/>
          <p:cNvGrpSpPr>
            <a:grpSpLocks/>
          </p:cNvGrpSpPr>
          <p:nvPr/>
        </p:nvGrpSpPr>
        <p:grpSpPr bwMode="auto">
          <a:xfrm>
            <a:off x="1331913" y="1125538"/>
            <a:ext cx="5832475" cy="4878387"/>
            <a:chOff x="1643041" y="1357298"/>
            <a:chExt cx="6072232" cy="5319901"/>
          </a:xfrm>
        </p:grpSpPr>
        <p:grpSp>
          <p:nvGrpSpPr>
            <p:cNvPr id="99333" name="组合 22"/>
            <p:cNvGrpSpPr>
              <a:grpSpLocks/>
            </p:cNvGrpSpPr>
            <p:nvPr/>
          </p:nvGrpSpPr>
          <p:grpSpPr bwMode="auto">
            <a:xfrm>
              <a:off x="1643041" y="1357298"/>
              <a:ext cx="3000967" cy="2538695"/>
              <a:chOff x="1643041" y="1357298"/>
              <a:chExt cx="3000967" cy="2538695"/>
            </a:xfrm>
          </p:grpSpPr>
          <p:sp>
            <p:nvSpPr>
              <p:cNvPr id="99343" name="TextBox 17"/>
              <p:cNvSpPr txBox="1">
                <a:spLocks noChangeArrowheads="1"/>
              </p:cNvSpPr>
              <p:nvPr/>
            </p:nvSpPr>
            <p:spPr bwMode="auto">
              <a:xfrm>
                <a:off x="1963629" y="3528870"/>
                <a:ext cx="1588067" cy="3671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1600"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zh-CN" sz="1600">
                    <a:latin typeface="Constantia" pitchFamily="18" charset="0"/>
                  </a:rPr>
                  <a:t>    Before Test</a:t>
                </a:r>
              </a:p>
            </p:txBody>
          </p:sp>
          <p:pic>
            <p:nvPicPr>
              <p:cNvPr id="99344" name="图片 19" descr="SNV33750.JPG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643041" y="1357298"/>
                <a:ext cx="3000967" cy="2143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99334" name="组合 21"/>
            <p:cNvGrpSpPr>
              <a:grpSpLocks/>
            </p:cNvGrpSpPr>
            <p:nvPr/>
          </p:nvGrpSpPr>
          <p:grpSpPr bwMode="auto">
            <a:xfrm>
              <a:off x="4860035" y="1357298"/>
              <a:ext cx="2855238" cy="2790387"/>
              <a:chOff x="4788597" y="1357298"/>
              <a:chExt cx="2855238" cy="2790387"/>
            </a:xfrm>
          </p:grpSpPr>
          <p:sp>
            <p:nvSpPr>
              <p:cNvPr id="99341" name="TextBox 15"/>
              <p:cNvSpPr txBox="1">
                <a:spLocks noChangeArrowheads="1"/>
              </p:cNvSpPr>
              <p:nvPr/>
            </p:nvSpPr>
            <p:spPr bwMode="auto">
              <a:xfrm>
                <a:off x="5730429" y="3514136"/>
                <a:ext cx="1323522" cy="6335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600">
                    <a:latin typeface="Constantia" pitchFamily="18" charset="0"/>
                  </a:rPr>
                  <a:t>B In Short-circuit</a:t>
                </a:r>
              </a:p>
            </p:txBody>
          </p:sp>
          <p:pic>
            <p:nvPicPr>
              <p:cNvPr id="99342" name="图片 20" descr="SNV33769.JPG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4788597" y="1357298"/>
                <a:ext cx="2855238" cy="2143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99335" name="组合 25"/>
            <p:cNvGrpSpPr>
              <a:grpSpLocks/>
            </p:cNvGrpSpPr>
            <p:nvPr/>
          </p:nvGrpSpPr>
          <p:grpSpPr bwMode="auto">
            <a:xfrm>
              <a:off x="1714480" y="4061436"/>
              <a:ext cx="2929529" cy="2615763"/>
              <a:chOff x="1714480" y="4061436"/>
              <a:chExt cx="2929529" cy="2615763"/>
            </a:xfrm>
          </p:grpSpPr>
          <p:sp>
            <p:nvSpPr>
              <p:cNvPr id="99339" name="TextBox 13"/>
              <p:cNvSpPr txBox="1">
                <a:spLocks noChangeArrowheads="1"/>
              </p:cNvSpPr>
              <p:nvPr/>
            </p:nvSpPr>
            <p:spPr bwMode="auto">
              <a:xfrm>
                <a:off x="1957368" y="6043599"/>
                <a:ext cx="1543249" cy="633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1600">
                    <a:latin typeface="Constantia" pitchFamily="18" charset="0"/>
                  </a:rPr>
                  <a:t>C    After Test 1</a:t>
                </a:r>
                <a:endParaRPr lang="zh-CN" altLang="en-US" sz="1600">
                  <a:latin typeface="Constantia" pitchFamily="18" charset="0"/>
                </a:endParaRPr>
              </a:p>
            </p:txBody>
          </p:sp>
          <p:pic>
            <p:nvPicPr>
              <p:cNvPr id="99340" name="图片 23" descr="SNV33772.JPG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714480" y="4061436"/>
                <a:ext cx="2929529" cy="20107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99336" name="组合 26"/>
            <p:cNvGrpSpPr>
              <a:grpSpLocks/>
            </p:cNvGrpSpPr>
            <p:nvPr/>
          </p:nvGrpSpPr>
          <p:grpSpPr bwMode="auto">
            <a:xfrm>
              <a:off x="4860034" y="4071942"/>
              <a:ext cx="2855238" cy="2313704"/>
              <a:chOff x="4860034" y="4071942"/>
              <a:chExt cx="2855238" cy="2313704"/>
            </a:xfrm>
          </p:grpSpPr>
          <p:sp>
            <p:nvSpPr>
              <p:cNvPr id="99337" name="TextBox 10"/>
              <p:cNvSpPr txBox="1">
                <a:spLocks noChangeArrowheads="1"/>
              </p:cNvSpPr>
              <p:nvPr/>
            </p:nvSpPr>
            <p:spPr bwMode="auto">
              <a:xfrm>
                <a:off x="5663070" y="6018776"/>
                <a:ext cx="1837398" cy="3668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1600">
                    <a:latin typeface="Constantia" pitchFamily="18" charset="0"/>
                  </a:rPr>
                  <a:t>D    After Test 2</a:t>
                </a:r>
                <a:endParaRPr lang="zh-CN" altLang="en-US" sz="1600">
                  <a:latin typeface="Constantia" pitchFamily="18" charset="0"/>
                </a:endParaRPr>
              </a:p>
            </p:txBody>
          </p:sp>
          <p:pic>
            <p:nvPicPr>
              <p:cNvPr id="99338" name="图片 24" descr="SNV33776.JPG"/>
              <p:cNvPicPr>
                <a:picLocks noChangeAspect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4860034" y="4071942"/>
                <a:ext cx="2855238" cy="1928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99332" name="Rectangle 31"/>
          <p:cNvSpPr>
            <a:spLocks noChangeArrowheads="1"/>
          </p:cNvSpPr>
          <p:nvPr/>
        </p:nvSpPr>
        <p:spPr bwMode="auto">
          <a:xfrm>
            <a:off x="827088" y="5734050"/>
            <a:ext cx="705802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★★★ </a:t>
            </a:r>
            <a:r>
              <a:rPr lang="en-US" altLang="zh-CN">
                <a:solidFill>
                  <a:srgbClr val="FF0000"/>
                </a:solidFill>
              </a:rPr>
              <a:t>Note: </a:t>
            </a:r>
          </a:p>
          <a:p>
            <a:r>
              <a:rPr lang="en-US" altLang="zh-CN">
                <a:solidFill>
                  <a:srgbClr val="0000FF"/>
                </a:solidFill>
              </a:rPr>
              <a:t>Directly short circuit</a:t>
            </a:r>
            <a:r>
              <a:rPr lang="zh-CN" altLang="en-US">
                <a:solidFill>
                  <a:srgbClr val="0000FF"/>
                </a:solidFill>
              </a:rPr>
              <a:t>，</a:t>
            </a:r>
            <a:r>
              <a:rPr lang="en-US" altLang="zh-CN">
                <a:solidFill>
                  <a:srgbClr val="0000FF"/>
                </a:solidFill>
              </a:rPr>
              <a:t>the highest temperature is 30.3℃</a:t>
            </a:r>
            <a:r>
              <a:rPr lang="zh-CN" altLang="en-US">
                <a:solidFill>
                  <a:srgbClr val="0000FF"/>
                </a:solidFill>
              </a:rPr>
              <a:t>，</a:t>
            </a:r>
            <a:r>
              <a:rPr lang="en-US" altLang="zh-CN">
                <a:solidFill>
                  <a:srgbClr val="0000FF"/>
                </a:solidFill>
              </a:rPr>
              <a:t>the temperature increased 4.7℃and the voltage decreased 0.146V</a:t>
            </a:r>
            <a:r>
              <a:rPr lang="zh-CN" altLang="en-US">
                <a:solidFill>
                  <a:srgbClr val="0000FF"/>
                </a:solidFill>
              </a:rPr>
              <a:t>。</a:t>
            </a:r>
            <a:endParaRPr lang="en-US" altLang="zh-CN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标题 1"/>
          <p:cNvSpPr>
            <a:spLocks noGrp="1"/>
          </p:cNvSpPr>
          <p:nvPr>
            <p:ph type="title" idx="4294967295"/>
          </p:nvPr>
        </p:nvSpPr>
        <p:spPr>
          <a:xfrm>
            <a:off x="323850" y="476250"/>
            <a:ext cx="8534400" cy="881063"/>
          </a:xfrm>
        </p:spPr>
        <p:txBody>
          <a:bodyPr lIns="91440" rIns="91440" bIns="45720" anchor="ctr"/>
          <a:lstStyle/>
          <a:p>
            <a:r>
              <a:rPr lang="zh-CN" altLang="en-US" sz="3100" b="1" smtClean="0">
                <a:solidFill>
                  <a:srgbClr val="0000FF"/>
                </a:solidFill>
              </a:rPr>
              <a:t> </a:t>
            </a:r>
            <a:r>
              <a:rPr lang="en-US" altLang="zh-CN" sz="2800" b="1" smtClean="0">
                <a:solidFill>
                  <a:srgbClr val="0000FF"/>
                </a:solidFill>
                <a:latin typeface="Arial" charset="0"/>
              </a:rPr>
              <a:t>Overcharge Demo of IP standard power battery</a:t>
            </a:r>
            <a:endParaRPr lang="zh-CN" altLang="en-US" sz="2800" b="1" smtClean="0">
              <a:solidFill>
                <a:srgbClr val="0000FF"/>
              </a:solidFill>
              <a:latin typeface="Arial" charset="0"/>
            </a:endParaRPr>
          </a:p>
        </p:txBody>
      </p:sp>
      <p:graphicFrame>
        <p:nvGraphicFramePr>
          <p:cNvPr id="11" name="图表 10"/>
          <p:cNvGraphicFramePr/>
          <p:nvPr/>
        </p:nvGraphicFramePr>
        <p:xfrm>
          <a:off x="1000100" y="1428736"/>
          <a:ext cx="7275713" cy="4818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0355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1750" y="1889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 txBox="1">
            <a:spLocks noChangeArrowheads="1"/>
          </p:cNvSpPr>
          <p:nvPr/>
        </p:nvSpPr>
        <p:spPr bwMode="auto">
          <a:xfrm>
            <a:off x="142875" y="2714625"/>
            <a:ext cx="8572500" cy="182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kumimoji="1" lang="en-US" altLang="zh-CN" sz="5400" b="1">
                <a:solidFill>
                  <a:srgbClr val="0000FF"/>
                </a:solidFill>
                <a:latin typeface="Constantia" pitchFamily="18" charset="0"/>
              </a:rPr>
              <a:t>    IP will grow with you!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kumimoji="1" lang="en-US" altLang="zh-CN" sz="4000" b="1">
                <a:solidFill>
                  <a:srgbClr val="0000FF"/>
                </a:solidFill>
                <a:latin typeface="Constantia" pitchFamily="18" charset="0"/>
              </a:rPr>
              <a:t>                </a:t>
            </a:r>
          </a:p>
        </p:txBody>
      </p:sp>
      <p:pic>
        <p:nvPicPr>
          <p:cNvPr id="10137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25" y="404813"/>
            <a:ext cx="2762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6007</TotalTime>
  <Words>1110</Words>
  <Application>Microsoft Office PowerPoint</Application>
  <PresentationFormat>画面に合わせる (4:3)</PresentationFormat>
  <Paragraphs>222</Paragraphs>
  <Slides>45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4</vt:i4>
      </vt:variant>
      <vt:variant>
        <vt:lpstr>スライド タイトル</vt:lpstr>
      </vt:variant>
      <vt:variant>
        <vt:i4>45</vt:i4>
      </vt:variant>
    </vt:vector>
  </HeadingPairs>
  <TitlesOfParts>
    <vt:vector size="49" baseType="lpstr">
      <vt:lpstr>流畅</vt:lpstr>
      <vt:lpstr>1_Blends</vt:lpstr>
      <vt:lpstr>2_Blends</vt:lpstr>
      <vt:lpstr>3_Blends</vt:lpstr>
      <vt:lpstr>PowerPoint プレゼンテーション</vt:lpstr>
      <vt:lpstr>Agenda</vt:lpstr>
      <vt:lpstr>I、Company Introduction</vt:lpstr>
      <vt:lpstr>Company Introduction</vt:lpstr>
      <vt:lpstr>PowerPoint プレゼンテーション</vt:lpstr>
      <vt:lpstr>PowerPoint プレゼンテーション</vt:lpstr>
      <vt:lpstr>PowerPoint プレゼンテーション</vt:lpstr>
      <vt:lpstr>Quality Control</vt:lpstr>
      <vt:lpstr>PowerPoint プレゼンテーション</vt:lpstr>
      <vt:lpstr>II、Lithium-ion polymer cell Character &amp; Performance </vt:lpstr>
      <vt:lpstr>PowerPoint プレゼンテーション</vt:lpstr>
      <vt:lpstr>PowerPoint プレゼンテーション</vt:lpstr>
      <vt:lpstr>III、IP Product Introduction </vt:lpstr>
      <vt:lpstr>  High Rate RC battery introduction</vt:lpstr>
      <vt:lpstr>PowerPoint プレゼンテーション</vt:lpstr>
      <vt:lpstr>Advantages of IP high rate battery</vt:lpstr>
      <vt:lpstr>Power character of High Rate battery</vt:lpstr>
      <vt:lpstr>IP high rate battery character</vt:lpstr>
      <vt:lpstr>IP high rate battery cycle life character</vt:lpstr>
      <vt:lpstr> IP LiFePO4 Power Battery Introduction</vt:lpstr>
      <vt:lpstr>Features of IP LiFePO4 Power Battery</vt:lpstr>
      <vt:lpstr>Typical Charging Curve</vt:lpstr>
      <vt:lpstr>Typical Rated Discharging Curve </vt:lpstr>
      <vt:lpstr>Excellent low temperature performance</vt:lpstr>
      <vt:lpstr>Comparison under different Temperatures at different Rates</vt:lpstr>
      <vt:lpstr>Single cell charge-discharge at 1C Cycle Performance＞1500 times (room temperate )</vt:lpstr>
      <vt:lpstr>Single cell charge-discharge at 1C Cycle Performance＞500 times (55℃)</vt:lpstr>
      <vt:lpstr> 12S battery pack discharge at 1C Cycle Performance＞1500 times (room temperate )</vt:lpstr>
      <vt:lpstr> Li-NMC Power battery Introduction</vt:lpstr>
      <vt:lpstr>PowerPoint プレゼンテーション</vt:lpstr>
      <vt:lpstr>PowerPoint プレゼンテーション</vt:lpstr>
      <vt:lpstr>PowerPoint プレゼンテーション</vt:lpstr>
      <vt:lpstr>High capacity digital cell introduction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  IV、Safety Performance </vt:lpstr>
      <vt:lpstr>Standard Safety Testing Demo（LiFePO4)</vt:lpstr>
      <vt:lpstr>Nail Test Demo of IP standard power battery </vt:lpstr>
      <vt:lpstr> Short-circuit Demo of IP standard power battery</vt:lpstr>
      <vt:lpstr> Overcharge Demo of IP standard power battery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从产品开发流程了解产品的安全</dc:title>
  <dc:creator>James</dc:creator>
  <cp:lastModifiedBy>FJ-USER</cp:lastModifiedBy>
  <cp:revision>967</cp:revision>
  <dcterms:modified xsi:type="dcterms:W3CDTF">2013-08-08T06:14:46Z</dcterms:modified>
</cp:coreProperties>
</file>